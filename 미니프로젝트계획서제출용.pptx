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72"/>
  </p:notesMasterIdLst>
  <p:handoutMasterIdLst>
    <p:handoutMasterId r:id="rId73"/>
  </p:handoutMasterIdLst>
  <p:sldIdLst>
    <p:sldId id="385" r:id="rId2"/>
    <p:sldId id="403" r:id="rId3"/>
    <p:sldId id="412" r:id="rId4"/>
    <p:sldId id="258" r:id="rId5"/>
    <p:sldId id="409" r:id="rId6"/>
    <p:sldId id="410" r:id="rId7"/>
    <p:sldId id="411" r:id="rId8"/>
    <p:sldId id="404" r:id="rId9"/>
    <p:sldId id="384" r:id="rId10"/>
    <p:sldId id="413" r:id="rId11"/>
    <p:sldId id="401" r:id="rId12"/>
    <p:sldId id="400" r:id="rId13"/>
    <p:sldId id="399" r:id="rId14"/>
    <p:sldId id="382" r:id="rId15"/>
    <p:sldId id="390" r:id="rId16"/>
    <p:sldId id="402" r:id="rId17"/>
    <p:sldId id="389" r:id="rId18"/>
    <p:sldId id="396" r:id="rId19"/>
    <p:sldId id="397" r:id="rId20"/>
    <p:sldId id="387" r:id="rId21"/>
    <p:sldId id="388" r:id="rId22"/>
    <p:sldId id="414" r:id="rId23"/>
    <p:sldId id="445" r:id="rId24"/>
    <p:sldId id="391" r:id="rId25"/>
    <p:sldId id="426" r:id="rId26"/>
    <p:sldId id="427" r:id="rId27"/>
    <p:sldId id="428" r:id="rId28"/>
    <p:sldId id="429" r:id="rId29"/>
    <p:sldId id="430" r:id="rId30"/>
    <p:sldId id="431" r:id="rId31"/>
    <p:sldId id="432" r:id="rId32"/>
    <p:sldId id="433" r:id="rId33"/>
    <p:sldId id="434" r:id="rId34"/>
    <p:sldId id="444" r:id="rId35"/>
    <p:sldId id="435" r:id="rId36"/>
    <p:sldId id="436" r:id="rId37"/>
    <p:sldId id="437" r:id="rId38"/>
    <p:sldId id="438" r:id="rId39"/>
    <p:sldId id="446" r:id="rId40"/>
    <p:sldId id="447" r:id="rId41"/>
    <p:sldId id="448" r:id="rId42"/>
    <p:sldId id="440" r:id="rId43"/>
    <p:sldId id="441" r:id="rId44"/>
    <p:sldId id="442" r:id="rId45"/>
    <p:sldId id="443" r:id="rId46"/>
    <p:sldId id="449" r:id="rId47"/>
    <p:sldId id="451" r:id="rId48"/>
    <p:sldId id="452" r:id="rId49"/>
    <p:sldId id="453" r:id="rId50"/>
    <p:sldId id="454" r:id="rId51"/>
    <p:sldId id="455" r:id="rId52"/>
    <p:sldId id="456" r:id="rId53"/>
    <p:sldId id="457" r:id="rId54"/>
    <p:sldId id="458" r:id="rId55"/>
    <p:sldId id="461" r:id="rId56"/>
    <p:sldId id="462" r:id="rId57"/>
    <p:sldId id="392" r:id="rId58"/>
    <p:sldId id="393" r:id="rId59"/>
    <p:sldId id="394" r:id="rId60"/>
    <p:sldId id="416" r:id="rId61"/>
    <p:sldId id="417" r:id="rId62"/>
    <p:sldId id="419" r:id="rId63"/>
    <p:sldId id="420" r:id="rId64"/>
    <p:sldId id="421" r:id="rId65"/>
    <p:sldId id="424" r:id="rId66"/>
    <p:sldId id="423" r:id="rId67"/>
    <p:sldId id="425" r:id="rId68"/>
    <p:sldId id="459" r:id="rId69"/>
    <p:sldId id="450" r:id="rId70"/>
    <p:sldId id="460" r:id="rId7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28" autoAdjust="0"/>
    <p:restoredTop sz="84083" autoAdjust="0"/>
  </p:normalViewPr>
  <p:slideViewPr>
    <p:cSldViewPr snapToGrid="0">
      <p:cViewPr varScale="1">
        <p:scale>
          <a:sx n="96" d="100"/>
          <a:sy n="96" d="100"/>
        </p:scale>
        <p:origin x="1260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42" d="100"/>
          <a:sy n="142" d="100"/>
        </p:scale>
        <p:origin x="132" y="10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9682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5132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219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84977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91876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16597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25061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87951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06678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9042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939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16021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6327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2991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3" Type="http://schemas.openxmlformats.org/officeDocument/2006/relationships/slide" Target="slide25.xml"/><Relationship Id="rId7" Type="http://schemas.openxmlformats.org/officeDocument/2006/relationships/slide" Target="slide29.xml"/><Relationship Id="rId12" Type="http://schemas.openxmlformats.org/officeDocument/2006/relationships/slide" Target="slide34.xml"/><Relationship Id="rId2" Type="http://schemas.openxmlformats.org/officeDocument/2006/relationships/slide" Target="slide24.xml"/><Relationship Id="rId1" Type="http://schemas.openxmlformats.org/officeDocument/2006/relationships/slideLayout" Target="../slideLayouts/slideLayout4.xml"/><Relationship Id="rId6" Type="http://schemas.openxmlformats.org/officeDocument/2006/relationships/slide" Target="slide28.xml"/><Relationship Id="rId11" Type="http://schemas.openxmlformats.org/officeDocument/2006/relationships/slide" Target="slide33.xml"/><Relationship Id="rId5" Type="http://schemas.openxmlformats.org/officeDocument/2006/relationships/slide" Target="slide27.xml"/><Relationship Id="rId10" Type="http://schemas.openxmlformats.org/officeDocument/2006/relationships/slide" Target="slide32.xml"/><Relationship Id="rId4" Type="http://schemas.openxmlformats.org/officeDocument/2006/relationships/slide" Target="slide26.xml"/><Relationship Id="rId9" Type="http://schemas.openxmlformats.org/officeDocument/2006/relationships/slide" Target="slide3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41.xml"/><Relationship Id="rId3" Type="http://schemas.openxmlformats.org/officeDocument/2006/relationships/slide" Target="slide36.xml"/><Relationship Id="rId7" Type="http://schemas.openxmlformats.org/officeDocument/2006/relationships/slide" Target="slide40.xml"/><Relationship Id="rId12" Type="http://schemas.openxmlformats.org/officeDocument/2006/relationships/slide" Target="slide45.xml"/><Relationship Id="rId2" Type="http://schemas.openxmlformats.org/officeDocument/2006/relationships/slide" Target="slide35.xml"/><Relationship Id="rId1" Type="http://schemas.openxmlformats.org/officeDocument/2006/relationships/slideLayout" Target="../slideLayouts/slideLayout4.xml"/><Relationship Id="rId6" Type="http://schemas.openxmlformats.org/officeDocument/2006/relationships/slide" Target="slide39.xml"/><Relationship Id="rId11" Type="http://schemas.openxmlformats.org/officeDocument/2006/relationships/slide" Target="slide44.xml"/><Relationship Id="rId5" Type="http://schemas.openxmlformats.org/officeDocument/2006/relationships/slide" Target="slide38.xml"/><Relationship Id="rId10" Type="http://schemas.openxmlformats.org/officeDocument/2006/relationships/slide" Target="slide43.xml"/><Relationship Id="rId4" Type="http://schemas.openxmlformats.org/officeDocument/2006/relationships/slide" Target="slide37.xml"/><Relationship Id="rId9" Type="http://schemas.openxmlformats.org/officeDocument/2006/relationships/slide" Target="slide4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52.xml"/><Relationship Id="rId3" Type="http://schemas.openxmlformats.org/officeDocument/2006/relationships/slide" Target="slide47.xml"/><Relationship Id="rId7" Type="http://schemas.openxmlformats.org/officeDocument/2006/relationships/slide" Target="slide51.xml"/><Relationship Id="rId2" Type="http://schemas.openxmlformats.org/officeDocument/2006/relationships/slide" Target="slide46.xml"/><Relationship Id="rId1" Type="http://schemas.openxmlformats.org/officeDocument/2006/relationships/slideLayout" Target="../slideLayouts/slideLayout4.xml"/><Relationship Id="rId6" Type="http://schemas.openxmlformats.org/officeDocument/2006/relationships/slide" Target="slide50.xml"/><Relationship Id="rId11" Type="http://schemas.openxmlformats.org/officeDocument/2006/relationships/slide" Target="slide55.xml"/><Relationship Id="rId5" Type="http://schemas.openxmlformats.org/officeDocument/2006/relationships/slide" Target="slide49.xml"/><Relationship Id="rId10" Type="http://schemas.openxmlformats.org/officeDocument/2006/relationships/slide" Target="slide54.xml"/><Relationship Id="rId4" Type="http://schemas.openxmlformats.org/officeDocument/2006/relationships/slide" Target="slide48.xml"/><Relationship Id="rId9" Type="http://schemas.openxmlformats.org/officeDocument/2006/relationships/slide" Target="slide5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id?userid=administrator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naver?naver=naver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10.125.121.176:8080/api/v1/logingoogle?google=google*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kakao?kakao=kakao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10.125.121.176:8080/api/v1/logingoogle?google=google*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validatenaver?naver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validatekakao?kakao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joinUser?userid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modifyUser?currentPassword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favorite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name?fish_name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weather/chart?location_no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odifyFishDetail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hyperlink" Target="&#51060;&#48120;&#51648;&#51452;&#49548;" TargetMode="Externa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emberlist?pageNo=1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slide" Target="slide5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odifyUserEnabled?user_no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FetchLogList?logType=All&amp;pageNo=1&amp;numOfRows=10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slide" Target="slide70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topPoint?count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topPoint/fishChart?location_no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박민규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김향자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FD82F4-6680-4E4F-8739-A31146DA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01862F-4A01-49E0-9618-E0FE1F3DB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  <a:endParaRPr lang="en-US" altLang="ko-KR" dirty="0"/>
          </a:p>
          <a:p>
            <a:r>
              <a:rPr lang="ko-KR" altLang="en-US" dirty="0"/>
              <a:t>핵심기능</a:t>
            </a:r>
            <a:endParaRPr lang="en-US" altLang="ko-KR" dirty="0"/>
          </a:p>
          <a:p>
            <a:r>
              <a:rPr lang="ko-KR" altLang="en-US" dirty="0" err="1"/>
              <a:t>비기능</a:t>
            </a:r>
            <a:r>
              <a:rPr lang="ko-KR" altLang="en-US" dirty="0"/>
              <a:t> 요구사항</a:t>
            </a:r>
          </a:p>
        </p:txBody>
      </p:sp>
    </p:spTree>
    <p:extLst>
      <p:ext uri="{BB962C8B-B14F-4D97-AF65-F5344CB8AC3E}">
        <p14:creationId xmlns:p14="http://schemas.microsoft.com/office/powerpoint/2010/main" val="208090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44AEF1-DA9F-4967-9E9F-169A0F25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456973-A70B-453F-BAFC-29947F0B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3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프로젝트 개요</a:t>
            </a:r>
            <a:endParaRPr lang="ko-KR" altLang="ko-KR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 err="1"/>
              <a:t>공공데이터포털</a:t>
            </a:r>
            <a:r>
              <a:rPr lang="en-US" altLang="ko-KR" dirty="0"/>
              <a:t>(https://www.data.go.kr/data/15142486/openapi.do)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소개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해양수산부 국립해양조사원에서 전국의 주요 낚시포인트를 대상으로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조석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 등 정보를 이용하여 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5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단계로 지수화한 바다낚시지수 정보를 제공하기 위해 제작되었습니다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위치 구분 등 값을 파라미터로 데이터를 조회할 수 있으며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주요 내용은 낚시 포인트 위치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날짜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시간대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물때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유속을 기반으로 한 어종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낚시지수와 낚시점수 정보로 구성되어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특정 지역의 낚시 조건을 사전에 파악하여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출조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계획을 세우는 데 활용될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또한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관련 업계에서는 고객에게 최적의 낚시 정보를 제공하는 데 활용할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목표</a:t>
            </a:r>
            <a:r>
              <a:rPr lang="en-US" altLang="ko-KR" dirty="0"/>
              <a:t>: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전국의 주요 낚시 포인트별 실시간 해양 데이터와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어종별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낚시 지수를 시각적으로 제공하여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낚시객들이 최적의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출조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계획을 수립하고 안전한 낚시 활동을 할 수 있도록 지원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키워드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: 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해수면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갯바위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선상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지수정보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해양기상</a:t>
            </a:r>
            <a:endParaRPr lang="en-US" altLang="ko-KR" sz="2700" dirty="0">
              <a:solidFill>
                <a:srgbClr val="3B4151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(1) - </a:t>
            </a: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1.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주요 요약 지표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(KPI Widgets)**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totalIndex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부터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까지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5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단계의 텍스트와 색상으로 현재 낚시 여건을 직관적으로 표시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바나낚시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lastScr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)/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물떄점수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): 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낚시 적합도를 </a:t>
            </a:r>
            <a:r>
              <a:rPr lang="ko-KR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수치화된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 점수로 제공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기반 시각화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(Map View)**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낚시 포인트의 상태를 지도 위에 시각화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위치 마커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지수에 따라 마커 색상을 다르게 표현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파랑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빨강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**Chart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조회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지도에서 특정 지점을 클릭하면 해당 지역의 상세 데이터가 즉시 나타나도록 구현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032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(2) – </a:t>
            </a:r>
            <a:r>
              <a:rPr lang="ko-KR" altLang="en-US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필터링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2.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 필터링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해양 및 기상 상세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(Detailed Metrics)**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낚시 환경에 직접적 영향을 주는 요소를 차트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그래프로 시각화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 및 바람 차트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최대 파고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maxWvhgt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풍속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maxWspd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비교하여 안전성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 및 기온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maxWtem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과 기온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maxArtmp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범위를 표시하여 대상 어종의 활성도 예측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 범위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maxCrsp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통해 물때에 따른 낚시 환경 제공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대상 </a:t>
            </a:r>
            <a:r>
              <a:rPr lang="ko-KR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맞춤 필터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(Target Fish Filter)**</a:t>
            </a:r>
            <a:endParaRPr lang="en-US" altLang="ko-KR" sz="14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사용자가 원하는 대상 어종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seafsTgfshNm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선택하여 해당 어종에 최적화된 지수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어종별로 계산된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물때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별도로 표시하여 공략 시간 결정에 도움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2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en-US" b="1" kern="0" dirty="0" err="1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</a:t>
            </a:r>
            <a:r>
              <a:rPr lang="ko-KR" altLang="ko-KR" sz="4400" b="1" kern="0" dirty="0" err="1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기능</a:t>
            </a:r>
            <a:r>
              <a:rPr lang="en-US" altLang="ko-KR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en-US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요구사항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.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비기능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요구사항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성능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호출 및 데이터 로딩 시간은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**3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초 이내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에 완료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스크롤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필터링 등 사용자 인터랙션은 지연 없이 즉각적으로 반응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IT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기기에 익숙하지 않은 사용자도 쉽게 이해하고 사용할 수 있는 직관적인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UI/UX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PC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모바일 환경을 모두 지원하는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반응형 웹 디자인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적용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신뢰성 및 확장성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외부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장애 발생 시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사용자에게 명확한 안내 메시지 전달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향후 새로운 낚시 포인트나 어종이 추가될 경우 유연하게 반영 가능한 구조로 설계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07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0AD85B-ACA6-40B9-ADDC-E948BAF45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새굴림" panose="02030600000101010101" pitchFamily="18" charset="-127"/>
                <a:ea typeface="새굴림" panose="02030600000101010101" pitchFamily="18" charset="-127"/>
              </a:rPr>
              <a:t>예상화면 구성</a:t>
            </a:r>
            <a:r>
              <a:rPr lang="en-US" altLang="ko-KR" dirty="0">
                <a:latin typeface="새굴림" panose="02030600000101010101" pitchFamily="18" charset="-127"/>
                <a:ea typeface="새굴림" panose="02030600000101010101" pitchFamily="18" charset="-127"/>
              </a:rPr>
              <a:t>(UI/UX)</a:t>
            </a:r>
            <a:endParaRPr lang="ko-KR" altLang="en-US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7861D8-B378-4EFD-AB5A-53A0867A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예상 화면 구성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(UI/UX 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와이어프레임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 헤더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서비스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TITLE,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로고</a:t>
            </a:r>
            <a:endParaRPr lang="en-US" altLang="ko-KR" sz="1200" kern="0" dirty="0">
              <a:solidFill>
                <a:srgbClr val="3B3B3B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굴림" panose="020B0600000101010101" pitchFamily="50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선택된 지역의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KPI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위젯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최종 점수 등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오늘의 바다낚시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 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바다낚시지수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중앙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&gt;&gt; 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오늘의 지표 지도 표시 후 클릭 후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&gt;&gt;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 예정</a:t>
            </a:r>
            <a:endParaRPr lang="en-US" altLang="ko-KR" sz="12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en-US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SearchBar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: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지도가 표시되며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각 포인트에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상태별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색상 마커 존재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어종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파고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수온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우측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시계열</a:t>
            </a:r>
            <a:r>
              <a:rPr lang="ko-KR" altLang="en-US" sz="12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챠트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 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연동예정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낚시지수</a:t>
            </a:r>
            <a:endParaRPr lang="en-US" altLang="ko-KR" sz="12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 선택 필터 및 시간대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토글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하단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메트릭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차트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풍속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471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9951"/>
            <a:ext cx="4346532" cy="2852737"/>
          </a:xfrm>
        </p:spPr>
        <p:txBody>
          <a:bodyPr>
            <a:normAutofit/>
          </a:bodyPr>
          <a:lstStyle/>
          <a:p>
            <a:pPr algn="ctr"/>
            <a:r>
              <a:rPr lang="ko-KR" altLang="en-US" sz="4400" dirty="0"/>
              <a:t>시스템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1ED91F-9754-4454-8C82-70916DDC1D37}"/>
              </a:ext>
            </a:extLst>
          </p:cNvPr>
          <p:cNvSpPr txBox="1"/>
          <p:nvPr/>
        </p:nvSpPr>
        <p:spPr>
          <a:xfrm>
            <a:off x="4990665" y="1246275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14+</a:t>
            </a:r>
            <a:r>
              <a:rPr lang="en-US" altLang="ko-KR" dirty="0"/>
              <a:t> - React </a:t>
            </a:r>
            <a:r>
              <a:rPr lang="ko-KR" altLang="en-US" dirty="0"/>
              <a:t>프레임워크</a:t>
            </a:r>
            <a:r>
              <a:rPr lang="en-US" altLang="ko-KR" dirty="0"/>
              <a:t>, SSR/SSG </a:t>
            </a:r>
            <a:r>
              <a:rPr lang="ko-KR" altLang="en-US" dirty="0"/>
              <a:t>지원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TypeScript</a:t>
            </a:r>
            <a:r>
              <a:rPr lang="en-US" altLang="ko-KR" dirty="0"/>
              <a:t> - </a:t>
            </a:r>
            <a:r>
              <a:rPr lang="ko-KR" altLang="en-US" dirty="0"/>
              <a:t>타입 안정성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Tailwind CSS</a:t>
            </a:r>
            <a:r>
              <a:rPr lang="en-US" altLang="ko-KR" dirty="0"/>
              <a:t> - </a:t>
            </a:r>
            <a:r>
              <a:rPr lang="ko-KR" altLang="en-US" dirty="0"/>
              <a:t>스타일링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Recharts</a:t>
            </a:r>
            <a:r>
              <a:rPr lang="en-US" altLang="ko-KR" dirty="0"/>
              <a:t> - </a:t>
            </a:r>
            <a:r>
              <a:rPr lang="ko-KR" altLang="en-US" dirty="0"/>
              <a:t>차트 라이브러리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Framer Motion</a:t>
            </a:r>
            <a:r>
              <a:rPr lang="en-US" altLang="ko-KR" dirty="0"/>
              <a:t> - </a:t>
            </a:r>
            <a:r>
              <a:rPr lang="ko-KR" altLang="en-US" dirty="0"/>
              <a:t>애니메이션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9A105-76AD-49F8-909D-4F1417252A43}"/>
              </a:ext>
            </a:extLst>
          </p:cNvPr>
          <p:cNvSpPr txBox="1"/>
          <p:nvPr/>
        </p:nvSpPr>
        <p:spPr>
          <a:xfrm>
            <a:off x="5049120" y="3602595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API Routes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서버리스 </a:t>
            </a:r>
            <a:r>
              <a:rPr lang="en-US" altLang="ko-KR" dirty="0"/>
              <a:t>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Prisma ORM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데이터베이스 접근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PostgreSQL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관계형 데이터베이스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369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A0E77B-2A3C-495F-B540-F8C064AC6F4E}"/>
              </a:ext>
            </a:extLst>
          </p:cNvPr>
          <p:cNvSpPr txBox="1"/>
          <p:nvPr/>
        </p:nvSpPr>
        <p:spPr>
          <a:xfrm>
            <a:off x="182153" y="46600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대시보드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흐름도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(API → atoms → components)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9F7025-884D-4B4C-952F-1F8F04115569}"/>
              </a:ext>
            </a:extLst>
          </p:cNvPr>
          <p:cNvSpPr txBox="1"/>
          <p:nvPr/>
        </p:nvSpPr>
        <p:spPr>
          <a:xfrm>
            <a:off x="2299573" y="2052345"/>
            <a:ext cx="56168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1000"/>
              </a:spcAft>
            </a:pP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[External API]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(fetch / server action)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[atoms]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좌표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로직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계산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분기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[UI Components]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파고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풍속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수온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KakaoMapArea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마커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색상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Popup     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알림</a:t>
            </a:r>
            <a:endParaRPr lang="ko-KR" altLang="ko-KR" sz="1200" dirty="0">
              <a:effectLst/>
              <a:latin typeface="Consolas" panose="020B0609020204030204" pitchFamily="49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D331E-3F64-4888-9816-FCB0F067A206}"/>
              </a:ext>
            </a:extLst>
          </p:cNvPr>
          <p:cNvSpPr txBox="1"/>
          <p:nvPr/>
        </p:nvSpPr>
        <p:spPr>
          <a:xfrm>
            <a:off x="182153" y="808503"/>
            <a:ext cx="6093912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흐름</a:t>
            </a:r>
            <a:r>
              <a:rPr lang="en-US" altLang="ko-KR" sz="14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특징</a:t>
            </a:r>
            <a:endParaRPr lang="ko-KR" altLang="ko-KR" sz="14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단방향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데이터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흐름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(Unidirectional Data Flow)</a:t>
            </a:r>
            <a:endParaRPr lang="ko-KR" altLang="ko-KR" sz="12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클릭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atom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업데이트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모든 컴포넌트 동기 반영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KPI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차트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상태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2134127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 err="1"/>
              <a:t>아키택처</a:t>
            </a:r>
            <a:r>
              <a:rPr kumimoji="1" lang="ko-KR" altLang="en-US" sz="1000" dirty="0"/>
              <a:t> 설계 의도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8FFE89-0DE3-4F7A-96A7-132C0DC7989B}"/>
              </a:ext>
            </a:extLst>
          </p:cNvPr>
          <p:cNvSpPr txBox="1"/>
          <p:nvPr/>
        </p:nvSpPr>
        <p:spPr>
          <a:xfrm>
            <a:off x="5088959" y="855379"/>
            <a:ext cx="3278427" cy="545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┌───────────────────────────────────────┐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External API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바다낚시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기상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해양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공공데이터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(fetch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axios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Data Layer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atoms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상태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관리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atomLocation.ts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(subscribe)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Domain / Logic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기준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(props / hooks)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UI Layer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components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KpiCard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SearchBar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SideBar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Popup  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(composition)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Routing / Page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app (Next.js App Router)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dashboard/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chart/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ChartPage.tsx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│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A276CE-D6C3-4531-9325-1FB11428403B}"/>
              </a:ext>
            </a:extLst>
          </p:cNvPr>
          <p:cNvSpPr txBox="1"/>
          <p:nvPr/>
        </p:nvSpPr>
        <p:spPr>
          <a:xfrm>
            <a:off x="182153" y="376903"/>
            <a:ext cx="6093912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아키텍처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설계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의도</a:t>
            </a:r>
            <a:endParaRPr lang="ko-KR" altLang="ko-KR" sz="16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API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변경에도</a:t>
            </a: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UI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최소 영향</a:t>
            </a:r>
            <a:endParaRPr lang="ko-KR" altLang="ko-KR" sz="14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상태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(atom)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중심 단방향 데이터 흐름 유지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페이지는 조합만 담당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,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로직은 하위 레이어로 위임</a:t>
            </a:r>
          </a:p>
        </p:txBody>
      </p:sp>
    </p:spTree>
    <p:extLst>
      <p:ext uri="{BB962C8B-B14F-4D97-AF65-F5344CB8AC3E}">
        <p14:creationId xmlns:p14="http://schemas.microsoft.com/office/powerpoint/2010/main" val="269441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907C0F-10BE-495B-9861-D5D0E4EA9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1485" y="602105"/>
            <a:ext cx="10368241" cy="5478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1. 주요 요약 지표 (KPI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Widgets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대시보드 상단에는 선택한 지역의 핵심 상태를 한눈에 볼 수 있는 위젯을 배치합니다.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totalIndex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좋음', '좋음', '보통', '나쁨',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 등 현재 낚시 여건을 텍스트와 색상으로 강조합니다.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최종 점수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lastScr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해당 지역의 낚시 적합성을 수치화한 점수를 표시합니다.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예보 시간 및 시점: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예보 날짜(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predcYmd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오전/오후(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predcNoonSeCd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명시하여 사용자가 혼동하지 않게 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2. 지도 기반 시각화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View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데이터의 위도(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경도(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lot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 정보를 활용하여 전국 낚시 포인트의 상태를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위치 마커: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', '거문도', '거제도' 등 각 지점의 위치에 마커를 찍고,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에 따라 마커 색상을 다르게 표현합니다 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매우좋음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-파랑,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매우나쁨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-빨강).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지역별 검색: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지도에서 특정 지점(예: 서귀포, 울릉도)을 클릭하면 해당 지역의 상세 데이터가 나타나도록 구현합니다.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3. 해양 및 기상 상세 정보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Detailed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Metrics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낚시 환경에 직접적인 영향을 주는 요소들을 차트나 그래프로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파고 및 바람 차트: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최소/최대 파고(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풍속(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)을 비교 막대그래프나 게이지 차트로 보여주어 안전성을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수온 및 기온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수온(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)과 기온(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범위를 표시하여 대상 어종의 활성도를 예측하게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유속(조류)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유속의 범위(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통해 물때에 따른 낚시 환경을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4. 대상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맞춤 필터 (Target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Fish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Filter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데이터에는 동일 지점이라도 어종에 따라 지수가 다르게 설정되어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 선택: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감성돔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농어, 참돔, 우럭,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돌돔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벵에돔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등 사용자가 원하는 **대상 어종(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seafsTgfshNm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)**을 필터링하여 해당 어종에 최적화된 지수를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물때 점수: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어종별로 계산된 물때 점수(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별도로 표시하여 공략 시간을 결정하는 데 도움을 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5. 대시보드 인터랙션 가이드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오전/오후 비교: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동일 지역(예: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오전과 오후 데이터를 비교하여 지수가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보통'에서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변하는 등의 추세를 보여주면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출조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시간 결정에 유용합니다.</a:t>
            </a:r>
          </a:p>
        </p:txBody>
      </p:sp>
    </p:spTree>
    <p:extLst>
      <p:ext uri="{BB962C8B-B14F-4D97-AF65-F5344CB8AC3E}">
        <p14:creationId xmlns:p14="http://schemas.microsoft.com/office/powerpoint/2010/main" val="3477693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060070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시보드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위젯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079EEA-3B81-4F7E-9140-3B46E335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96" y="499335"/>
            <a:ext cx="5423731" cy="62881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4768A5C-3E74-44DB-BB2E-15E97F3A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78" y="3755151"/>
            <a:ext cx="5033817" cy="292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디렉터리 구조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E07B35A-2A27-4FB9-ADE0-7B1F44E6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158298"/>
              </p:ext>
            </p:extLst>
          </p:nvPr>
        </p:nvGraphicFramePr>
        <p:xfrm>
          <a:off x="482100" y="1733370"/>
          <a:ext cx="7804760" cy="1535166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2767359717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840832112"/>
                    </a:ext>
                  </a:extLst>
                </a:gridCol>
              </a:tblGrid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경로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36687304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app/page.tsx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메인 진입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87101048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layout.tsx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전역 레이아웃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73687703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app/dashboard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대시보드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전용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라우트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536727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app/chart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통계/차트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9605587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KakaoMap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지도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단독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페이지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8578610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D76D097-74FC-4DE2-89DF-673C1DCEB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201595"/>
              </p:ext>
            </p:extLst>
          </p:nvPr>
        </p:nvGraphicFramePr>
        <p:xfrm>
          <a:off x="482100" y="4296427"/>
          <a:ext cx="7804760" cy="2176791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786770609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439458863"/>
                    </a:ext>
                  </a:extLst>
                </a:gridCol>
              </a:tblGrid>
              <a:tr h="27641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컴포넌트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설명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40485741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KpiCard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단일 KPI 표시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27046112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KpiSection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KPI </a:t>
                      </a:r>
                      <a:r>
                        <a:rPr lang="en-US" sz="1200" dirty="0" err="1">
                          <a:effectLst/>
                        </a:rPr>
                        <a:t>그룹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51437694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ForecastPanel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기상·해양 정보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76665097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SearchBar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지역/어종 검색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6005995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SideBar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네비게이션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624474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Popup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위험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알림</a:t>
                      </a:r>
                      <a:r>
                        <a:rPr lang="en-US" sz="1200" dirty="0">
                          <a:effectLst/>
                        </a:rPr>
                        <a:t> UI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3754802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670F64-AA0F-4662-9637-116BB086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966270"/>
              </p:ext>
            </p:extLst>
          </p:nvPr>
        </p:nvGraphicFramePr>
        <p:xfrm>
          <a:off x="482100" y="3268539"/>
          <a:ext cx="7804760" cy="730142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838092686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3398780802"/>
                    </a:ext>
                  </a:extLst>
                </a:gridCol>
              </a:tblGrid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파일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181718506"/>
                  </a:ext>
                </a:extLst>
              </a:tr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atomLocation.ts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선택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위치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좌표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지역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0918411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134A9033-1E41-4A55-BBB0-837AC5482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64" y="707406"/>
            <a:ext cx="1906291" cy="877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Next.js App Router</a:t>
            </a:r>
            <a:endParaRPr kumimoji="0" lang="en-US" altLang="ko-KR" sz="800" b="0" i="0" u="none" strike="noStrike" cap="none" normalizeH="0" baseline="0" dirty="0" bmk="app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err="1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라우트</a:t>
            </a:r>
            <a:r>
              <a:rPr kumimoji="0" lang="ko-KR" altLang="en-US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및 레이아웃 전담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028B5190-BE73-4830-84FE-756C4EDC8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18532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kumimoji="0" lang="en-US" altLang="ko-KR" sz="1100" b="0" i="0" u="none" strike="noStrike" cap="none" normalizeH="0" baseline="0" dirty="0" bmk="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components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순수 </a:t>
            </a:r>
            <a:r>
              <a:rPr kumimoji="0" lang="en-US" altLang="ko-KR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UI </a:t>
            </a: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컴포넌트</a:t>
            </a:r>
            <a:endParaRPr kumimoji="0" lang="ko-KR" altLang="en-US" sz="800" b="0" i="0" u="none" strike="noStrike" cap="none" normalizeH="0" baseline="0" dirty="0" bmk="components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비즈니스 로직 최소화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D3D74BA1-68AF-4174-B47C-4C7F0BF6E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970" y="10032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/atoms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전역 상태 관리 계층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페이지 간 상태 공유</a:t>
            </a: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07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729731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x-none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x-none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대시보드 </a:t>
            </a:r>
            <a:r>
              <a:rPr kumimoji="1" lang="ko-KR" altLang="en-US" sz="1000" dirty="0" err="1"/>
              <a:t>첫페이지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8280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DashBoard</a:t>
            </a:r>
            <a:r>
              <a:rPr kumimoji="1" lang="en-US" altLang="ko-KR" sz="1000" dirty="0"/>
              <a:t>/Map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어종 및 낚시 포인트 지요 세부 정보 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0D07795-FA0A-4D5D-B004-71A10FBD37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1047" y="2504761"/>
            <a:ext cx="4379689" cy="33143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6033395-D715-454C-A852-E8604D2C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333" y="2442575"/>
            <a:ext cx="2955714" cy="33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9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2654950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1" action="ppaction://hlinksldjump"/>
                        </a:rPr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2" action="ppaction://hlinksldjump"/>
                        </a:rPr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정보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0227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398096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1" action="ppaction://hlinksldjump"/>
                        </a:rPr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2" action="ppaction://hlinksldjump"/>
                        </a:rPr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21200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586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216977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24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fetchData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금일 낚시 정보 갱신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공공데이터를 </a:t>
                      </a:r>
                      <a:r>
                        <a:rPr lang="en-US" altLang="ko-KR" sz="1200" dirty="0"/>
                        <a:t>DB</a:t>
                      </a:r>
                      <a:r>
                        <a:rPr lang="ko-KR" altLang="en-US" sz="1200" dirty="0"/>
                        <a:t>로 가져옴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25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fishlistAll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26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27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removeFishDetail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28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memberlist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이용자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29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modifyUserEnabled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이용자의 활성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비활성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30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fetchLogList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</a:t>
                      </a:r>
                      <a:r>
                        <a:rPr lang="ko-KR" altLang="en-US" sz="1200" dirty="0" err="1"/>
                        <a:t>데이터패치</a:t>
                      </a:r>
                      <a:r>
                        <a:rPr lang="ko-KR" altLang="en-US" sz="1200" dirty="0"/>
                        <a:t> 로그 리스트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오류확인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31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topPoint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금일 </a:t>
                      </a:r>
                      <a:r>
                        <a:rPr lang="ko-KR" altLang="en-US" sz="1200" dirty="0" err="1"/>
                        <a:t>어종별</a:t>
                      </a:r>
                      <a:r>
                        <a:rPr lang="ko-KR" altLang="en-US" sz="1200" dirty="0"/>
                        <a:t> 추천 지점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1" action="ppaction://hlinksldjump"/>
                        </a:rPr>
                        <a:t>32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topPoint</a:t>
                      </a: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fishChart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추천 지점의 </a:t>
                      </a:r>
                      <a:r>
                        <a:rPr lang="ko-KR" altLang="en-US" sz="1200" dirty="0" err="1"/>
                        <a:t>어종별</a:t>
                      </a:r>
                      <a:r>
                        <a:rPr lang="ko-KR" altLang="en-US" sz="1200" dirty="0"/>
                        <a:t>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31075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loginid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56982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733869"/>
              </p:ext>
            </p:extLst>
          </p:nvPr>
        </p:nvGraphicFramePr>
        <p:xfrm>
          <a:off x="1098744" y="2677343"/>
          <a:ext cx="10515602" cy="2877637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329284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3611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api/v1/loginid?userid=administrator</a:t>
                      </a:r>
                      <a:r>
                        <a:rPr lang="en-US" altLang="ko-KR" sz="1200" dirty="0"/>
                        <a:t>&amp;password=Abcd1234!@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password: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password :password }),});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7398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logingoogle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77288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32984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25474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/>
                        <a:t>구글계정정보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api/v1/logingoogle?google=google*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google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google : </a:t>
                      </a:r>
                      <a:r>
                        <a:rPr lang="en-US" altLang="ko-KR" sz="1200" dirty="0">
                          <a:hlinkClick r:id="rId3"/>
                        </a:rPr>
                        <a:t>google*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822348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</a:t>
            </a:r>
            <a:r>
              <a:rPr lang="en-US" altLang="ko-KR" dirty="0"/>
              <a:t>(</a:t>
            </a:r>
            <a:r>
              <a:rPr lang="en-US" altLang="ko-KR" sz="4400" dirty="0" err="1"/>
              <a:t>loginnaver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0556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10700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api/v1/loginnaver?naver=naver*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en-US" altLang="ko-KR" sz="1200" dirty="0" err="1">
                          <a:hlinkClick r:id="rId4"/>
                        </a:rPr>
                        <a:t>naver</a:t>
                      </a:r>
                      <a:r>
                        <a:rPr lang="en-US" altLang="ko-KR" sz="1200" dirty="0">
                          <a:hlinkClick r:id="rId4"/>
                        </a:rPr>
                        <a:t>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2101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loginkakao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150814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254151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api/v1/loginkakao?kakao=kakao*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en-US" altLang="ko-KR" sz="1200" dirty="0" err="1">
                          <a:hlinkClick r:id="rId4"/>
                        </a:rPr>
                        <a:t>kakao</a:t>
                      </a:r>
                      <a:r>
                        <a:rPr lang="en-US" altLang="ko-KR" sz="1200" dirty="0">
                          <a:hlinkClick r:id="rId4"/>
                        </a:rPr>
                        <a:t>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14385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validateID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856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678538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join/validateID?userid=</a:t>
                      </a:r>
                      <a:r>
                        <a:rPr lang="ko-KR" altLang="en-US" sz="120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신규아이디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188733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validateEmail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038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7348973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?email=</a:t>
                      </a:r>
                      <a:r>
                        <a:rPr lang="ko-KR" altLang="en-US" sz="1200" b="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join/validateEmail?email=</a:t>
                      </a:r>
                      <a:r>
                        <a:rPr lang="ko-KR" altLang="en-US" sz="120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email : </a:t>
                      </a:r>
                      <a:r>
                        <a:rPr lang="ko-KR" altLang="en-US" sz="1200" b="0" dirty="0" err="1"/>
                        <a:t>신규이메일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validatgeEmail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email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74404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validategoogle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859654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227084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 err="1"/>
                        <a:t>신규구글계정정보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join/validategoogle?google=</a:t>
                      </a:r>
                      <a:r>
                        <a:rPr lang="ko-KR" altLang="en-US" sz="1200" dirty="0" err="1"/>
                        <a:t>신규구글계정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google : </a:t>
                      </a:r>
                      <a:r>
                        <a:rPr lang="ko-KR" altLang="en-US" sz="1200" b="0" dirty="0" err="1"/>
                        <a:t>신규구글계정정보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google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신규구글계정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58511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validatenaver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51481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70046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신규네이버계정정보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api/v1/join/validatenaver?naver=</a:t>
                      </a:r>
                      <a:r>
                        <a:rPr lang="ko-KR" altLang="en-US" sz="1200" dirty="0" err="1"/>
                        <a:t>신규네이버계정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신규네이버계정정보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신규네이버계정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2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validatekakao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17987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06551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api/v1/join/validatekakao?kakao=</a:t>
                      </a:r>
                      <a:r>
                        <a:rPr lang="ko-KR" altLang="en-US" sz="1200" dirty="0" err="1"/>
                        <a:t>신규카카오계정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신규카카오계정정보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신규카카오계정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040891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joinUser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08700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270688"/>
              </p:ext>
            </p:extLst>
          </p:nvPr>
        </p:nvGraphicFramePr>
        <p:xfrm>
          <a:off x="1098744" y="2677343"/>
          <a:ext cx="10515602" cy="39199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&amp;username=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&amp;email=</a:t>
                      </a:r>
                      <a:r>
                        <a:rPr lang="ko-KR" altLang="en-US" sz="1200" b="0" dirty="0"/>
                        <a:t>이메일</a:t>
                      </a:r>
                      <a:r>
                        <a:rPr lang="en-US" altLang="ko-KR" sz="1200" b="0" dirty="0"/>
                        <a:t>&amp;google=</a:t>
                      </a:r>
                      <a:r>
                        <a:rPr lang="ko-KR" altLang="en-US" sz="1200" b="0" dirty="0"/>
                        <a:t>구글계정정보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api/v1/join/joinUser?userid=</a:t>
                      </a:r>
                      <a:r>
                        <a:rPr lang="ko-KR" altLang="en-US" sz="1200" dirty="0"/>
                        <a:t>아이디</a:t>
                      </a:r>
                      <a:r>
                        <a:rPr lang="en-US" altLang="ko-KR" sz="1200" dirty="0"/>
                        <a:t>&amp;password=</a:t>
                      </a:r>
                      <a:r>
                        <a:rPr lang="ko-KR" altLang="en-US" sz="1200" dirty="0"/>
                        <a:t>비밀번호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&amp;username=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&amp;email=</a:t>
                      </a:r>
                      <a:r>
                        <a:rPr lang="ko-KR" altLang="en-US" sz="1200" dirty="0"/>
                        <a:t>이메일</a:t>
                      </a:r>
                      <a:r>
                        <a:rPr lang="en-US" altLang="ko-KR" sz="1200" dirty="0"/>
                        <a:t>&amp;google=</a:t>
                      </a:r>
                      <a:r>
                        <a:rPr lang="ko-KR" altLang="en-US" sz="1200" dirty="0"/>
                        <a:t>구글계정정보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naver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네이버계정정보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kakao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 : 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, username : 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email : </a:t>
                      </a:r>
                      <a:r>
                        <a:rPr lang="ko-KR" altLang="en-US" sz="1200" b="0" dirty="0" err="1"/>
                        <a:t>이메일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 err="1"/>
                        <a:t>google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joinUser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password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username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email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google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구글계정정보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네이버계정정보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카카오계정정보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join/</a:t>
            </a:r>
            <a:r>
              <a:rPr lang="en-US" altLang="ko-KR" sz="4400" dirty="0" err="1"/>
              <a:t>modifyUser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84082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정보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7763573"/>
              </p:ext>
            </p:extLst>
          </p:nvPr>
        </p:nvGraphicFramePr>
        <p:xfrm>
          <a:off x="1098744" y="2677343"/>
          <a:ext cx="10515602" cy="364563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api/v1/join/modifyUser?currentPassword=</a:t>
                      </a:r>
                      <a:r>
                        <a:rPr lang="ko-KR" altLang="en-US" sz="1200" dirty="0"/>
                        <a:t>현재비밀번호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newPassword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newUsername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신규이름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5528320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신규이름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현재비밀번호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newUsername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46960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(area)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9324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639524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api/v1/area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645367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area_name</a:t>
                      </a:r>
                      <a:r>
                        <a:rPr lang="en-US" altLang="ko-KR" sz="1200" b="0" dirty="0"/>
                        <a:t>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center_lat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center_lng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radius : </a:t>
                      </a:r>
                      <a:r>
                        <a:rPr lang="ko-KR" altLang="en-US" sz="1200" b="0" baseline="0" dirty="0"/>
                        <a:t>표시원반지름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fillcolor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표시색상</a:t>
                      </a:r>
                      <a:r>
                        <a:rPr lang="en-US" altLang="ko-KR" sz="1200" b="0" baseline="0" dirty="0"/>
                        <a:t>, level : </a:t>
                      </a:r>
                      <a:r>
                        <a:rPr lang="ko-KR" altLang="en-US" sz="1200" b="0" baseline="0" dirty="0" err="1"/>
                        <a:t>선택시화면확대비율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(location)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03783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49825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65288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920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817598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err="1"/>
                        <a:t>Respnse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location/area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44663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2781880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/>
                        <a:t>내용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권역고유번호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  <a:r>
                        <a:rPr lang="en-US" altLang="ko-KR" sz="1200" b="0" dirty="0"/>
                        <a:t>/area?area_no=1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area_no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1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071012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location/select)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28629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공공데이터의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주일간의 예측치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077839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/select?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 err="1"/>
                        <a:t>location_no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/v1/location/select',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95726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즐겨찾기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355463"/>
              </p:ext>
            </p:extLst>
          </p:nvPr>
        </p:nvGraphicFramePr>
        <p:xfrm>
          <a:off x="1098744" y="2677343"/>
          <a:ext cx="10515602" cy="291411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200" b="0" baseline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[{</a:t>
                      </a:r>
                      <a:r>
                        <a:rPr lang="en-US" altLang="ko-KR" sz="1200" b="0" dirty="0" err="1"/>
                        <a:t>favorite_no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즐겨찾기 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89426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location/favorite/add)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04089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즐겨찾기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515605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/favorite/add?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 err="1"/>
                        <a:t>location_no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/v1/location/favorite/add',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06037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location/favorite/remove)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7057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즐겨찾기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906742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/favorite/remove?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 err="1"/>
                        <a:t>location_no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/v1/location/favorite/remove',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40709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fish/name)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6040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035274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검색할 물고기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2950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api/v1/fish/name</a:t>
                      </a:r>
                      <a:r>
                        <a:rPr lang="en-US" altLang="ko-KR" sz="1200" b="0" dirty="0">
                          <a:hlinkClick r:id="rId3"/>
                        </a:rPr>
                        <a:t>?fish_name=</a:t>
                      </a:r>
                      <a:r>
                        <a:rPr lang="ko-KR" altLang="en-US" sz="1200" b="0" dirty="0"/>
                        <a:t>검색할 물고기 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검색할 물고기 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/v1/fish/name',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fish_name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검색할 물고기 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633523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fish/location)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61527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138911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api/v1/fish/location</a:t>
                      </a:r>
                      <a:r>
                        <a:rPr lang="en-US" altLang="ko-KR" sz="1200" b="0" dirty="0">
                          <a:hlinkClick r:id="rId3"/>
                        </a:rPr>
                        <a:t>?location_no=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7815567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fish/weather)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88935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 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1859045"/>
              </p:ext>
            </p:extLst>
          </p:nvPr>
        </p:nvGraphicFramePr>
        <p:xfrm>
          <a:off x="1098744" y="2677343"/>
          <a:ext cx="10515602" cy="318843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3547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weather_date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api/v1/fish/weather</a:t>
                      </a:r>
                      <a:r>
                        <a:rPr lang="en-US" altLang="ko-KR" sz="1200" b="0" dirty="0">
                          <a:hlinkClick r:id="rId3"/>
                        </a:rPr>
                        <a:t>?location_no=</a:t>
                      </a:r>
                      <a:r>
                        <a:rPr lang="ko-KR" altLang="en-US" sz="1200" b="0" dirty="0">
                          <a:hlinkClick r:id="rId3"/>
                        </a:rPr>
                        <a:t>위치고유번호</a:t>
                      </a:r>
                      <a:r>
                        <a:rPr lang="en-US" altLang="ko-KR" sz="1200" b="0" dirty="0">
                          <a:hlinkClick r:id="rId3"/>
                        </a:rPr>
                        <a:t>&amp;</a:t>
                      </a:r>
                      <a:r>
                        <a:rPr lang="en-US" altLang="ko-KR" sz="1200" b="0" dirty="0" err="1">
                          <a:hlinkClick r:id="rId3"/>
                        </a:rPr>
                        <a:t>weather_date</a:t>
                      </a:r>
                      <a:r>
                        <a:rPr lang="en-US" altLang="ko-KR" sz="1200" b="0" dirty="0">
                          <a:hlinkClick r:id="rId3"/>
                        </a:rPr>
                        <a:t>=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</a:t>
                      </a:r>
                      <a:r>
                        <a:rPr lang="en-US" altLang="ko-KR" sz="1200" b="0" dirty="0" err="1"/>
                        <a:t>weather_date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/v1/fish/weather',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weather_date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6368179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fishlist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45680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1810854"/>
              </p:ext>
            </p:extLst>
          </p:nvPr>
        </p:nvGraphicFramePr>
        <p:xfrm>
          <a:off x="1098744" y="2677343"/>
          <a:ext cx="10515602" cy="26397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</a:t>
                      </a:r>
                      <a:r>
                        <a:rPr lang="en-US" altLang="ko-KR" sz="1200" dirty="0"/>
                        <a:t>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:[{name : </a:t>
                      </a:r>
                      <a:r>
                        <a:rPr lang="ko-KR" altLang="en-US" sz="1200" b="0" dirty="0"/>
                        <a:t>물고기 이름</a:t>
                      </a:r>
                      <a:r>
                        <a:rPr lang="en-US" altLang="ko-KR" sz="1200" b="0" dirty="0"/>
                        <a:t>, detail : </a:t>
                      </a:r>
                      <a:r>
                        <a:rPr lang="ko-KR" altLang="en-US" sz="1200" b="0" dirty="0"/>
                        <a:t>간단설명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이미지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</a:t>
                      </a:r>
                      <a:r>
                        <a:rPr lang="en-US" altLang="ko-KR" sz="1200" b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weather/chart)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169889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671091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hlinkClick r:id="rId3"/>
                        </a:rPr>
                        <a:t>?</a:t>
                      </a:r>
                      <a:r>
                        <a:rPr lang="en-US" altLang="ko-KR" sz="1200" dirty="0" err="1">
                          <a:hlinkClick r:id="rId3"/>
                        </a:rPr>
                        <a:t>location_no</a:t>
                      </a:r>
                      <a:r>
                        <a:rPr lang="en-US" altLang="ko-KR" sz="1200" dirty="0">
                          <a:hlinkClick r:id="rId3"/>
                        </a:rPr>
                        <a:t>=</a:t>
                      </a:r>
                      <a:r>
                        <a:rPr lang="ko-KR" altLang="en-US" sz="1200" dirty="0"/>
                        <a:t>위치고유번호</a:t>
                      </a:r>
                      <a:r>
                        <a:rPr lang="en-US" altLang="ko-KR" sz="1200" dirty="0"/>
                        <a:t>&amp;query=</a:t>
                      </a:r>
                      <a:r>
                        <a:rPr lang="ko-KR" altLang="en-US" sz="1200" dirty="0"/>
                        <a:t>종류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api/v1/weather/chart?location_no=</a:t>
                      </a:r>
                      <a:r>
                        <a:rPr lang="ko-KR" altLang="en-US" sz="1200" dirty="0"/>
                        <a:t>위치고유번호</a:t>
                      </a:r>
                      <a:r>
                        <a:rPr lang="en-US" altLang="ko-KR" sz="1200" dirty="0"/>
                        <a:t>&amp;query=</a:t>
                      </a:r>
                      <a:r>
                        <a:rPr lang="ko-KR" altLang="en-US" sz="1200" dirty="0"/>
                        <a:t>종류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종류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파고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풍속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수온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유속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query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종류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/v1/weather/chart',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query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종류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predcYmd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, type:</a:t>
                      </a:r>
                      <a:r>
                        <a:rPr lang="ko-KR" altLang="en-US" sz="1200" b="0" dirty="0"/>
                        <a:t>구분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minValue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최저값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maxValue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최고값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8121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fetchData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758311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fetchData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금일 낚시 정보 갱신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공공데이터를 </a:t>
                      </a:r>
                      <a:r>
                        <a:rPr lang="en-US" altLang="ko-KR" sz="1200" dirty="0"/>
                        <a:t>DB</a:t>
                      </a:r>
                      <a:r>
                        <a:rPr lang="ko-KR" altLang="en-US" sz="1200" dirty="0"/>
                        <a:t>로 가져옴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233817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074533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api/v1/admin/fetchData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fetchData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73747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fishlistAll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50402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fishlistAll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7145258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377774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api/v1/admin/fishlistAll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fishlistAll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, name: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detail: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, url:</a:t>
                      </a:r>
                      <a:r>
                        <a:rPr lang="ko-KR" altLang="en-US" sz="1200" b="0" dirty="0"/>
                        <a:t>이미지주소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7217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modifyFishDetail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34344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143722"/>
              </p:ext>
            </p:extLst>
          </p:nvPr>
        </p:nvGraphicFramePr>
        <p:xfrm>
          <a:off x="1098744" y="2677343"/>
          <a:ext cx="10515602" cy="34627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&amp;name=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&amp;detail=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이미지주소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api/v1/admin/modifyFishDetail</a:t>
                      </a:r>
                      <a:r>
                        <a:rPr lang="en-US" altLang="ko-KR" sz="1200" b="0" dirty="0"/>
                        <a:t>?data_no=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&amp;name=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&amp;detail=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이미지주소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4408292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name: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detail: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설명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url: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이미지주소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modifyFishDetail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name: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detail: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설명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url: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이미지주소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25215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removeFishDetail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6113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removeFishDetail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816782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461274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api/v1/admin/removeFishDetail</a:t>
                      </a:r>
                      <a:r>
                        <a:rPr lang="en-US" altLang="ko-KR" sz="1200" b="0" dirty="0"/>
                        <a:t>?data_no=</a:t>
                      </a:r>
                      <a:r>
                        <a:rPr lang="ko-KR" altLang="en-US" sz="1200" b="0" dirty="0"/>
                        <a:t>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removeFishDetail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17393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memberlist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36174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memberlist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이용자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882791"/>
              </p:ext>
            </p:extLst>
          </p:nvPr>
        </p:nvGraphicFramePr>
        <p:xfrm>
          <a:off x="1098744" y="2677343"/>
          <a:ext cx="10515602" cy="34627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?</a:t>
                      </a:r>
                      <a:r>
                        <a:rPr lang="en-US" altLang="ko-KR" sz="1200" dirty="0" err="1"/>
                        <a:t>pageNo</a:t>
                      </a:r>
                      <a:r>
                        <a:rPr lang="en-US" altLang="ko-KR" sz="1200" dirty="0"/>
                        <a:t>=1&amp;numOfRows=10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api/v1/admin/memberlist</a:t>
                      </a:r>
                      <a:r>
                        <a:rPr lang="en-US" altLang="ko-KR" sz="1200" b="0" dirty="0">
                          <a:hlinkClick r:id="rId3"/>
                        </a:rPr>
                        <a:t>?pageNo=1</a:t>
                      </a:r>
                      <a:r>
                        <a:rPr lang="en-US" altLang="ko-KR" sz="1200" b="0" dirty="0"/>
                        <a:t>&amp;numOfRows=10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546315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memberlist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pageNo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현재 페이지 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numOfRows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조회된 데이터 개수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  items:[</a:t>
                      </a:r>
                      <a:r>
                        <a:rPr lang="en-US" altLang="ko-KR" sz="1200" b="0" dirty="0">
                          <a:hlinkClick r:id="rId4" action="ppaction://hlinksldjump"/>
                        </a:rPr>
                        <a:t>Member</a:t>
                      </a:r>
                      <a:r>
                        <a:rPr lang="ko-KR" altLang="en-US" sz="1200" b="0" dirty="0">
                          <a:hlinkClick r:id="rId4" action="ppaction://hlinksldjump"/>
                        </a:rPr>
                        <a:t> 테이블 참조</a:t>
                      </a:r>
                      <a:r>
                        <a:rPr lang="en-US" altLang="ko-KR" sz="1200" b="0" dirty="0"/>
                        <a:t>], </a:t>
                      </a:r>
                      <a:r>
                        <a:rPr lang="en-US" altLang="ko-KR" sz="1200" b="0" dirty="0" err="1"/>
                        <a:t>totalCount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데이터 개수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totalPage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페이지수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  last:</a:t>
                      </a:r>
                      <a:r>
                        <a:rPr lang="ko-KR" altLang="en-US" sz="1200" b="0" dirty="0"/>
                        <a:t>마지막페이지여부</a:t>
                      </a:r>
                      <a:r>
                        <a:rPr lang="en-US" altLang="ko-KR" sz="1200" b="0" dirty="0"/>
                        <a:t>, first:</a:t>
                      </a:r>
                      <a:r>
                        <a:rPr lang="ko-KR" altLang="en-US" sz="1200" b="0" dirty="0" err="1"/>
                        <a:t>첫페이지여부</a:t>
                      </a:r>
                      <a:r>
                        <a:rPr lang="en-US" altLang="ko-KR" sz="1200" b="0" dirty="0"/>
                        <a:t>, empty:</a:t>
                      </a:r>
                      <a:r>
                        <a:rPr lang="ko-KR" altLang="en-US" sz="1200" b="0" dirty="0"/>
                        <a:t>데이터존재여부</a:t>
                      </a:r>
                      <a:r>
                        <a:rPr lang="en-US" altLang="ko-KR" sz="1200" b="0" dirty="0"/>
                        <a:t>}]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59669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sz="4000" dirty="0"/>
              <a:t>(admin/</a:t>
            </a:r>
            <a:r>
              <a:rPr lang="en-US" altLang="ko-KR" sz="4000" dirty="0" err="1"/>
              <a:t>modifyUserEnabled</a:t>
            </a:r>
            <a:r>
              <a:rPr lang="en-US" altLang="ko-KR" sz="40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02535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modifyUserEnabled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이용자의 활성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비활성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399787"/>
              </p:ext>
            </p:extLst>
          </p:nvPr>
        </p:nvGraphicFramePr>
        <p:xfrm>
          <a:off x="1098744" y="2677343"/>
          <a:ext cx="10515602" cy="32798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50395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?</a:t>
                      </a:r>
                      <a:r>
                        <a:rPr lang="en-US" altLang="ko-KR" sz="1200" dirty="0" err="1"/>
                        <a:t>user_no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이용자 고유번호</a:t>
                      </a:r>
                      <a:r>
                        <a:rPr lang="en-US" altLang="ko-KR" sz="1200" dirty="0"/>
                        <a:t>&amp;enabled=</a:t>
                      </a:r>
                      <a:r>
                        <a:rPr lang="ko-KR" altLang="en-US" sz="1200" dirty="0"/>
                        <a:t>활성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비활성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api/v1/admin/modifyUserEnabled?user_no=</a:t>
                      </a:r>
                      <a:r>
                        <a:rPr lang="ko-KR" altLang="en-US" sz="1200" dirty="0"/>
                        <a:t>이용자 고유번호</a:t>
                      </a:r>
                      <a:r>
                        <a:rPr lang="en-US" altLang="ko-KR" sz="1200" dirty="0"/>
                        <a:t>&amp;enabled=true/false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이용자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enabled:true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/false(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활성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비활성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modifyUserEnabled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이용자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enabled:true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/false})});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99018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FetchLogList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78848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FetchLogList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</a:t>
                      </a:r>
                      <a:r>
                        <a:rPr lang="ko-KR" altLang="en-US" sz="1200" dirty="0" err="1"/>
                        <a:t>데이터패치</a:t>
                      </a:r>
                      <a:r>
                        <a:rPr lang="ko-KR" altLang="en-US" sz="1200" dirty="0"/>
                        <a:t> 로그 리스트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오류확인용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116472"/>
              </p:ext>
            </p:extLst>
          </p:nvPr>
        </p:nvGraphicFramePr>
        <p:xfrm>
          <a:off x="1098744" y="2677343"/>
          <a:ext cx="10515602" cy="40113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80973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?</a:t>
                      </a:r>
                      <a:r>
                        <a:rPr lang="en-US" altLang="ko-KR" sz="1200" dirty="0" err="1"/>
                        <a:t>logType</a:t>
                      </a:r>
                      <a:r>
                        <a:rPr lang="en-US" altLang="ko-KR" sz="1200" dirty="0"/>
                        <a:t>=(</a:t>
                      </a:r>
                      <a:r>
                        <a:rPr lang="en-US" altLang="ko-KR" sz="1200" dirty="0" err="1"/>
                        <a:t>All|Success|Error</a:t>
                      </a:r>
                      <a:r>
                        <a:rPr lang="en-US" altLang="ko-KR" sz="1200" dirty="0"/>
                        <a:t>)&amp;</a:t>
                      </a:r>
                      <a:r>
                        <a:rPr lang="en-US" altLang="ko-KR" sz="1200" dirty="0" err="1"/>
                        <a:t>pageNo</a:t>
                      </a:r>
                      <a:r>
                        <a:rPr lang="en-US" altLang="ko-KR" sz="1200" dirty="0"/>
                        <a:t>=1&amp;numOfRows=10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api/v1/admin/FetchLogList</a:t>
                      </a:r>
                      <a:r>
                        <a:rPr lang="en-US" altLang="ko-KR" sz="1200" b="0" dirty="0">
                          <a:hlinkClick r:id="rId3"/>
                        </a:rPr>
                        <a:t>?logType=All&amp;pageNo=1&amp;numOfRows=10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logType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All|Success|Error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FetchLogList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logType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All|Success|Error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pageNo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현재 페이지 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numOfRows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조회된 데이터 개수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items:[</a:t>
                      </a:r>
                      <a:r>
                        <a:rPr lang="en-US" altLang="ko-KR" sz="1200" b="0" dirty="0" err="1">
                          <a:hlinkClick r:id="rId4" action="ppaction://hlinksldjump"/>
                        </a:rPr>
                        <a:t>FetchDataLog</a:t>
                      </a:r>
                      <a:r>
                        <a:rPr lang="ko-KR" altLang="en-US" sz="1200" b="0" dirty="0">
                          <a:hlinkClick r:id="rId4" action="ppaction://hlinksldjump"/>
                        </a:rPr>
                        <a:t> 테이블 참조</a:t>
                      </a:r>
                      <a:r>
                        <a:rPr lang="en-US" altLang="ko-KR" sz="1200" b="0" dirty="0"/>
                        <a:t>], </a:t>
                      </a:r>
                      <a:r>
                        <a:rPr lang="en-US" altLang="ko-KR" sz="1200" b="0" dirty="0" err="1"/>
                        <a:t>totalCount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데이터 개수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totalPage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페이지수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last:</a:t>
                      </a:r>
                      <a:r>
                        <a:rPr lang="ko-KR" altLang="en-US" sz="1200" b="0" dirty="0"/>
                        <a:t>마지막페이지여부</a:t>
                      </a:r>
                      <a:r>
                        <a:rPr lang="en-US" altLang="ko-KR" sz="1200" b="0" dirty="0"/>
                        <a:t>, first:</a:t>
                      </a:r>
                      <a:r>
                        <a:rPr lang="ko-KR" altLang="en-US" sz="1200" b="0" dirty="0" err="1"/>
                        <a:t>첫페이지여부</a:t>
                      </a:r>
                      <a:r>
                        <a:rPr lang="en-US" altLang="ko-KR" sz="1200" b="0" dirty="0"/>
                        <a:t>, empty:</a:t>
                      </a:r>
                      <a:r>
                        <a:rPr lang="ko-KR" altLang="en-US" sz="1200" b="0" dirty="0"/>
                        <a:t>데이터존재여부</a:t>
                      </a:r>
                      <a:r>
                        <a:rPr lang="en-US" altLang="ko-KR" sz="1200" b="0" dirty="0"/>
                        <a:t>}]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80342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  <a:r>
              <a:rPr lang="en-US" altLang="ko-KR" dirty="0"/>
              <a:t>(admin/fish/</a:t>
            </a:r>
            <a:r>
              <a:rPr lang="en-US" altLang="ko-KR" dirty="0" err="1"/>
              <a:t>topPoint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36382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topPoint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금일 </a:t>
                      </a:r>
                      <a:r>
                        <a:rPr lang="ko-KR" altLang="en-US" sz="1200" dirty="0" err="1"/>
                        <a:t>어종별</a:t>
                      </a:r>
                      <a:r>
                        <a:rPr lang="ko-KR" altLang="en-US" sz="1200" dirty="0"/>
                        <a:t> 추천 지점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119051"/>
              </p:ext>
            </p:extLst>
          </p:nvPr>
        </p:nvGraphicFramePr>
        <p:xfrm>
          <a:off x="1098744" y="2677343"/>
          <a:ext cx="10515602" cy="318843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api/v1/fish/topPoint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ex</a:t>
                      </a:r>
                      <a:endParaRPr lang="ko-KR" alt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fetch(`${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baseUrl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}/fish/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topPoint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`,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headers: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'Content-Type': 'application/json',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});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2542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  <a:r>
              <a:rPr lang="en-US" altLang="ko-KR" dirty="0"/>
              <a:t>(admin/fish/</a:t>
            </a:r>
            <a:r>
              <a:rPr lang="en-US" altLang="ko-KR" dirty="0" err="1"/>
              <a:t>topPoint</a:t>
            </a:r>
            <a:r>
              <a:rPr lang="en-US" altLang="ko-KR" dirty="0"/>
              <a:t>/</a:t>
            </a:r>
            <a:r>
              <a:rPr lang="en-US" altLang="ko-KR" dirty="0" err="1"/>
              <a:t>fishChart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79533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topPoint</a:t>
                      </a: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fishChart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추천 지점의 </a:t>
                      </a:r>
                      <a:r>
                        <a:rPr lang="ko-KR" altLang="en-US" sz="1200" dirty="0" err="1"/>
                        <a:t>어종별</a:t>
                      </a:r>
                      <a:r>
                        <a:rPr lang="ko-KR" altLang="en-US" sz="1200" dirty="0"/>
                        <a:t>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7255556"/>
              </p:ext>
            </p:extLst>
          </p:nvPr>
        </p:nvGraphicFramePr>
        <p:xfrm>
          <a:off x="1098744" y="2677343"/>
          <a:ext cx="10515602" cy="32798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seafsTgshNm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물고기이름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api/v1/fish/topPoint/fishChart?location_no=</a:t>
                      </a:r>
                      <a:r>
                        <a:rPr lang="ko-KR" altLang="en-US" sz="1200" dirty="0"/>
                        <a:t>위치 고유번호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seafsTgshNm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물고기이름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628992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seafsTgshNm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물고기이름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FetchLogList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seafsTgshNm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물고기이름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33315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/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/>
        </p:nvGraphicFramePr>
        <p:xfrm>
          <a:off x="1098744" y="2677343"/>
          <a:ext cx="10515602" cy="2170626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19831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6427" y="1238253"/>
            <a:ext cx="7573617" cy="5112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(Member </a:t>
            </a:r>
            <a:r>
              <a:rPr lang="ko-KR" altLang="en-US" dirty="0"/>
              <a:t>계속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4618"/>
              </p:ext>
            </p:extLst>
          </p:nvPr>
        </p:nvGraphicFramePr>
        <p:xfrm>
          <a:off x="1073805" y="2549450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가입한 회원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Unique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ID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password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username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email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50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이메일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권한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enabled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활성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비활성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가입일시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(Member)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8580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마지막 로그인 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google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구글인증계정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naver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네이버인증계정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kakao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카카오인증계정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Login_log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061691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Login_log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Location_log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796144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정보 조회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select_time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63180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(Area)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547123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area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</a:t>
                      </a:r>
                      <a:r>
                        <a:rPr lang="ko-KR" altLang="en-US" sz="1200" baseline="0" dirty="0"/>
                        <a:t> 구분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center_lat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center_lng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radius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크기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level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short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지도 확대 정보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fill_color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색상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35821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(Location)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880962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location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낚시 위치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242096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(Weather </a:t>
            </a:r>
            <a:r>
              <a:rPr lang="ko-KR" altLang="en-US" dirty="0"/>
              <a:t>계속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791234"/>
              </p:ext>
            </p:extLst>
          </p:nvPr>
        </p:nvGraphicFramePr>
        <p:xfrm>
          <a:off x="1043987" y="1426328"/>
          <a:ext cx="8992907" cy="482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weather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지역별 날씨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날씨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predc_ymd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predc_noon_se_cd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08182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(Weather)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912438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8832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(Fish)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302641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fish_no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어종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바다낚시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tdv_hr_scr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물때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total_index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 낚시 지수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날씨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55935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Fish_detail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68618"/>
              </p:ext>
            </p:extLst>
          </p:nvPr>
        </p:nvGraphicFramePr>
        <p:xfrm>
          <a:off x="1043987" y="1426328"/>
          <a:ext cx="8992907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data_no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detail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설명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이미지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582738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Location_Favorite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418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location_favorite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즐겨찾기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favorite_no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즐겨찾기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지역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등록일시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delete_time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제거일시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980211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Fetch_log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605334"/>
              </p:ext>
            </p:extLst>
          </p:nvPr>
        </p:nvGraphicFramePr>
        <p:xfrm>
          <a:off x="1043987" y="1426328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location_favorite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즐겨찾기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error_msg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TEXT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 메시지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fetch_url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데이터 패치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추가된 위치 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추가된 날씨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weather_update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갱신된 날씨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7697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fish_count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추가된 어종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77737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fish_update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갱신된 어종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44979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631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1841</TotalTime>
  <Words>9656</Words>
  <Application>Microsoft Office PowerPoint</Application>
  <PresentationFormat>와이드스크린</PresentationFormat>
  <Paragraphs>1955</Paragraphs>
  <Slides>70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70</vt:i4>
      </vt:variant>
    </vt:vector>
  </HeadingPairs>
  <TitlesOfParts>
    <vt:vector size="79" baseType="lpstr">
      <vt:lpstr>Aptos</vt:lpstr>
      <vt:lpstr>Gulim</vt:lpstr>
      <vt:lpstr>맑은 고딕</vt:lpstr>
      <vt:lpstr>맑은 고딕</vt:lpstr>
      <vt:lpstr>새굴림</vt:lpstr>
      <vt:lpstr>Arial</vt:lpstr>
      <vt:lpstr>Consolas</vt:lpstr>
      <vt:lpstr>Symbol</vt:lpstr>
      <vt:lpstr>Office 테마</vt:lpstr>
      <vt:lpstr>실시간 바다낚시 지수 및 해양 데이터 예측 대시보드</vt:lpstr>
      <vt:lpstr>contents</vt:lpstr>
      <vt:lpstr>PowerPoint 프레젠테이션</vt:lpstr>
      <vt:lpstr>프로젝트 개요</vt:lpstr>
      <vt:lpstr>핵심 기능 (1) - 메인 대시보드 </vt:lpstr>
      <vt:lpstr>핵심 기능 (2) – 상세 정보 및 필터링 </vt:lpstr>
      <vt:lpstr>비기능 요구사항 </vt:lpstr>
      <vt:lpstr>예상화면 구성(UI/UX)</vt:lpstr>
      <vt:lpstr>시스템 구성</vt:lpstr>
      <vt:lpstr>PowerPoint 프레젠테이션</vt:lpstr>
      <vt:lpstr>PowerPoint 프레젠테이션</vt:lpstr>
      <vt:lpstr>PowerPoint 프레젠테이션</vt:lpstr>
      <vt:lpstr>PowerPoint 프레젠테이션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명세 목록</vt:lpstr>
      <vt:lpstr>REST API 명세 목록</vt:lpstr>
      <vt:lpstr>REST API 상세(loginid)</vt:lpstr>
      <vt:lpstr>REST API 상세(logingoogle)</vt:lpstr>
      <vt:lpstr>REST API 상(loginnaver)</vt:lpstr>
      <vt:lpstr>REST API 상세(loginkakao)</vt:lpstr>
      <vt:lpstr>REST API 상세(join/validateID)</vt:lpstr>
      <vt:lpstr>REST API 상세(join/validateEmail)</vt:lpstr>
      <vt:lpstr>REST API 상세(join/validategoogle)</vt:lpstr>
      <vt:lpstr>REST API 상세(join/validatenaver)</vt:lpstr>
      <vt:lpstr>REST API 상세(join/validatekakao)</vt:lpstr>
      <vt:lpstr>REST API 상세(join/joinUser)</vt:lpstr>
      <vt:lpstr>REST API 상세(join/modifyUser)</vt:lpstr>
      <vt:lpstr>REST API 상세(area)</vt:lpstr>
      <vt:lpstr>REST API 상세(location)</vt:lpstr>
      <vt:lpstr>REST API 상세(location/area)</vt:lpstr>
      <vt:lpstr>REST API 상세(location/select)</vt:lpstr>
      <vt:lpstr>REST API 상세(location/favorite)</vt:lpstr>
      <vt:lpstr>REST API 상세(location/favorite/add)</vt:lpstr>
      <vt:lpstr>REST API 상세(location/favorite/remove)</vt:lpstr>
      <vt:lpstr>REST API 상세(fish/name)</vt:lpstr>
      <vt:lpstr>REST API 상세(fish/location)</vt:lpstr>
      <vt:lpstr>REST API 상세(fish/weather)</vt:lpstr>
      <vt:lpstr>REST API 상세(fishlist)</vt:lpstr>
      <vt:lpstr>REST API 상세(weather/chart)</vt:lpstr>
      <vt:lpstr>REST API 상세(admin/fetchData)</vt:lpstr>
      <vt:lpstr>REST API 상세(admin/fishlistAll)</vt:lpstr>
      <vt:lpstr>REST API 상세(admin/modifyFishDetail)</vt:lpstr>
      <vt:lpstr>REST API 상세(admin/removeFishDetail)</vt:lpstr>
      <vt:lpstr>REST API 상세(admin/memberlist)</vt:lpstr>
      <vt:lpstr>REST API 상세(admin/modifyUserEnabled)</vt:lpstr>
      <vt:lpstr>REST API 상세(admin/FetchLogList)</vt:lpstr>
      <vt:lpstr>REST API 상세 명세(admin/fish/topPoint)</vt:lpstr>
      <vt:lpstr>REST API 상세 명세(admin/fish/topPoint/fishChart)</vt:lpstr>
      <vt:lpstr>REST API 상세()</vt:lpstr>
      <vt:lpstr>Database 설계</vt:lpstr>
      <vt:lpstr>ERD</vt:lpstr>
      <vt:lpstr>Table 명세(Member 계속)</vt:lpstr>
      <vt:lpstr>Table 명세(Member)</vt:lpstr>
      <vt:lpstr>Table 명세(Login_log)</vt:lpstr>
      <vt:lpstr>Table 명세(Location_log)</vt:lpstr>
      <vt:lpstr>Table 명세(Area)</vt:lpstr>
      <vt:lpstr>Table 명세(Location)</vt:lpstr>
      <vt:lpstr>Table 명세(Weather 계속)</vt:lpstr>
      <vt:lpstr>Table 명세(Weather)</vt:lpstr>
      <vt:lpstr>Table 명세(Fish)</vt:lpstr>
      <vt:lpstr>Table 명세(Fish_detail)</vt:lpstr>
      <vt:lpstr>Table 명세(Location_Favorite)</vt:lpstr>
      <vt:lpstr>Table 명세(Fetch_log)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user</cp:lastModifiedBy>
  <cp:revision>147</cp:revision>
  <dcterms:created xsi:type="dcterms:W3CDTF">2023-11-14T00:10:21Z</dcterms:created>
  <dcterms:modified xsi:type="dcterms:W3CDTF">2026-01-15T00:38:47Z</dcterms:modified>
</cp:coreProperties>
</file>