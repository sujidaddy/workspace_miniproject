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4">
  <p:sldMasterIdLst>
    <p:sldMasterId id="2147483648" r:id="rId1"/>
  </p:sldMasterIdLst>
  <p:notesMasterIdLst>
    <p:notesMasterId r:id="rId71"/>
  </p:notesMasterIdLst>
  <p:handoutMasterIdLst>
    <p:handoutMasterId r:id="rId72"/>
  </p:handoutMasterIdLst>
  <p:sldIdLst>
    <p:sldId id="385" r:id="rId2"/>
    <p:sldId id="403" r:id="rId3"/>
    <p:sldId id="412" r:id="rId4"/>
    <p:sldId id="258" r:id="rId5"/>
    <p:sldId id="409" r:id="rId6"/>
    <p:sldId id="410" r:id="rId7"/>
    <p:sldId id="411" r:id="rId8"/>
    <p:sldId id="404" r:id="rId9"/>
    <p:sldId id="384" r:id="rId10"/>
    <p:sldId id="413" r:id="rId11"/>
    <p:sldId id="401" r:id="rId12"/>
    <p:sldId id="400" r:id="rId13"/>
    <p:sldId id="399" r:id="rId14"/>
    <p:sldId id="382" r:id="rId15"/>
    <p:sldId id="390" r:id="rId16"/>
    <p:sldId id="402" r:id="rId17"/>
    <p:sldId id="389" r:id="rId18"/>
    <p:sldId id="396" r:id="rId19"/>
    <p:sldId id="397" r:id="rId20"/>
    <p:sldId id="387" r:id="rId21"/>
    <p:sldId id="388" r:id="rId22"/>
    <p:sldId id="414" r:id="rId23"/>
    <p:sldId id="445" r:id="rId24"/>
    <p:sldId id="391" r:id="rId25"/>
    <p:sldId id="426" r:id="rId26"/>
    <p:sldId id="427" r:id="rId27"/>
    <p:sldId id="428" r:id="rId28"/>
    <p:sldId id="429" r:id="rId29"/>
    <p:sldId id="430" r:id="rId30"/>
    <p:sldId id="431" r:id="rId31"/>
    <p:sldId id="432" r:id="rId32"/>
    <p:sldId id="433" r:id="rId33"/>
    <p:sldId id="434" r:id="rId34"/>
    <p:sldId id="444" r:id="rId35"/>
    <p:sldId id="435" r:id="rId36"/>
    <p:sldId id="436" r:id="rId37"/>
    <p:sldId id="437" r:id="rId38"/>
    <p:sldId id="438" r:id="rId39"/>
    <p:sldId id="446" r:id="rId40"/>
    <p:sldId id="447" r:id="rId41"/>
    <p:sldId id="448" r:id="rId42"/>
    <p:sldId id="440" r:id="rId43"/>
    <p:sldId id="441" r:id="rId44"/>
    <p:sldId id="442" r:id="rId45"/>
    <p:sldId id="443" r:id="rId46"/>
    <p:sldId id="449" r:id="rId47"/>
    <p:sldId id="451" r:id="rId48"/>
    <p:sldId id="452" r:id="rId49"/>
    <p:sldId id="453" r:id="rId50"/>
    <p:sldId id="454" r:id="rId51"/>
    <p:sldId id="455" r:id="rId52"/>
    <p:sldId id="456" r:id="rId53"/>
    <p:sldId id="457" r:id="rId54"/>
    <p:sldId id="458" r:id="rId55"/>
    <p:sldId id="461" r:id="rId56"/>
    <p:sldId id="392" r:id="rId57"/>
    <p:sldId id="393" r:id="rId58"/>
    <p:sldId id="394" r:id="rId59"/>
    <p:sldId id="416" r:id="rId60"/>
    <p:sldId id="417" r:id="rId61"/>
    <p:sldId id="419" r:id="rId62"/>
    <p:sldId id="420" r:id="rId63"/>
    <p:sldId id="421" r:id="rId64"/>
    <p:sldId id="424" r:id="rId65"/>
    <p:sldId id="423" r:id="rId66"/>
    <p:sldId id="425" r:id="rId67"/>
    <p:sldId id="459" r:id="rId68"/>
    <p:sldId id="450" r:id="rId69"/>
    <p:sldId id="460" r:id="rId7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28" autoAdjust="0"/>
    <p:restoredTop sz="84083" autoAdjust="0"/>
  </p:normalViewPr>
  <p:slideViewPr>
    <p:cSldViewPr snapToGrid="0">
      <p:cViewPr varScale="1">
        <p:scale>
          <a:sx n="96" d="100"/>
          <a:sy n="96" d="100"/>
        </p:scale>
        <p:origin x="1260" y="7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42" d="100"/>
          <a:sy n="142" d="100"/>
        </p:scale>
        <p:origin x="132" y="10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EB5020BC-59A6-46DF-B6B5-1535F9370B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F5CF24-DC29-4F02-82E6-AA9F14F16D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29D95-E9E3-4552-957F-C7B8CD71DED8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C370E-D69E-42C1-86C2-EA4D38AD87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7C66411-3AB5-4180-BFAA-759EDA11523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B41C52-F1BB-4C07-A20E-12CFF562074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9918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0F0C81-324A-46ED-B73B-81B80D72A858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0D15EC-A2B4-4E7E-9559-14A76DF48BD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61806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99682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132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22196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8497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1876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16597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5061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87951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06678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89042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9391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16021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7632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29916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69C9F2-7C80-4D0D-A5F8-E0B8089F39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4B85C7B-BBD9-47B4-84FB-FC65A22FEC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E71B02-9346-4F6E-87B4-2BDF06EC3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38019-2715-491D-BDB5-51F527ABD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9E5A94-4F52-45BF-9417-23B3D3119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6774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1CB7E5-576A-497F-AF17-9DD45A61A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065194-BD0F-4E72-AF93-06C7542E0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A2162-0040-419C-BFC9-45B95834F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530AA4-0B68-408A-8EF4-CD77881D7E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C74ECA6-9F1B-4E99-8013-1F25049F5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4858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1062A-36C4-4DAA-824B-01EFFAEAE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20ED167-4267-46F2-8C81-1A0752D10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E7F46F-9F5B-4EFE-9238-E59FD34E8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F7DBB6-F341-4F3B-83BA-F2FBA2949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33479A5-3A03-4237-BD24-B218A33AC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5001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FCF5F-B5DC-48C6-A83D-2B4254F57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2D4A13C-B9AD-4E08-A4D5-686068840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35539-0D9D-4F39-A215-82A46FF80F5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B509854-FB91-4CC3-9AED-91BFBE611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23D70A8-377E-4421-8D3D-F8BD5EAD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115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빈화면+상세설명" userDrawn="1">
  <p:cSld name="빈화면+상세설명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Google Shape;24;p46"/>
          <p:cNvGraphicFramePr/>
          <p:nvPr>
            <p:extLst>
              <p:ext uri="{D42A27DB-BD31-4B8C-83A1-F6EECF244321}">
                <p14:modId xmlns:p14="http://schemas.microsoft.com/office/powerpoint/2010/main" val="3814465973"/>
              </p:ext>
            </p:extLst>
          </p:nvPr>
        </p:nvGraphicFramePr>
        <p:xfrm>
          <a:off x="8956086" y="393703"/>
          <a:ext cx="3117375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117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" name="Google Shape;25;p46"/>
          <p:cNvGraphicFramePr/>
          <p:nvPr>
            <p:extLst>
              <p:ext uri="{D42A27DB-BD31-4B8C-83A1-F6EECF244321}">
                <p14:modId xmlns:p14="http://schemas.microsoft.com/office/powerpoint/2010/main" val="705449667"/>
              </p:ext>
            </p:extLst>
          </p:nvPr>
        </p:nvGraphicFramePr>
        <p:xfrm>
          <a:off x="93140" y="393705"/>
          <a:ext cx="8799108" cy="6392868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87991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39286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Gulim"/>
                        <a:buNone/>
                      </a:pPr>
                      <a:endParaRPr sz="1000" b="1" i="0" u="none" strike="noStrike" cap="none" dirty="0">
                        <a:solidFill>
                          <a:schemeClr val="dk1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21925" marR="121925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6" name="Google Shape;26;p46"/>
          <p:cNvGraphicFramePr/>
          <p:nvPr>
            <p:extLst>
              <p:ext uri="{D42A27DB-BD31-4B8C-83A1-F6EECF244321}">
                <p14:modId xmlns:p14="http://schemas.microsoft.com/office/powerpoint/2010/main" val="2623342793"/>
              </p:ext>
            </p:extLst>
          </p:nvPr>
        </p:nvGraphicFramePr>
        <p:xfrm>
          <a:off x="95025" y="71427"/>
          <a:ext cx="8797224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24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4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33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작업</a:t>
                      </a:r>
                      <a:r>
                        <a:rPr lang="en-US" sz="900" b="1" i="0" u="none" strike="noStrike" cap="none" dirty="0" err="1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명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Arial"/>
                        <a:buNone/>
                      </a:pPr>
                      <a:r>
                        <a:rPr lang="ko-KR" altLang="en-US" sz="9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분류</a:t>
                      </a:r>
                      <a:endParaRPr sz="900" b="1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000"/>
                        <a:buFont typeface="Gulim"/>
                        <a:buNone/>
                      </a:pPr>
                      <a:endParaRPr sz="9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Google Shape;27;p46"/>
          <p:cNvGraphicFramePr/>
          <p:nvPr>
            <p:extLst>
              <p:ext uri="{D42A27DB-BD31-4B8C-83A1-F6EECF244321}">
                <p14:modId xmlns:p14="http://schemas.microsoft.com/office/powerpoint/2010/main" val="388461848"/>
              </p:ext>
            </p:extLst>
          </p:nvPr>
        </p:nvGraphicFramePr>
        <p:xfrm>
          <a:off x="8956114" y="63502"/>
          <a:ext cx="3117375" cy="24606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5595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78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06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Arial"/>
                        <a:buNone/>
                      </a:pPr>
                      <a:r>
                        <a:rPr lang="ko-KR" altLang="en-US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화면</a:t>
                      </a:r>
                      <a:r>
                        <a:rPr lang="en-US" altLang="ko-KR" sz="800" b="1" i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ID</a:t>
                      </a:r>
                      <a:endParaRPr sz="1200" u="none" strike="noStrike" cap="none" dirty="0"/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Gulim"/>
                        <a:buNone/>
                      </a:pPr>
                      <a:endParaRPr sz="800" b="0" i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121925" marR="121925" anchor="ctr">
                    <a:lnL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BFB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47806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494">
          <p15:clr>
            <a:srgbClr val="FBAE40"/>
          </p15:clr>
        </p15:guide>
        <p15:guide id="2" pos="44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67CD586-56AD-4647-9398-6BE6D2ED2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24F5069-21B5-4766-93C8-FF29A2CDF1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3BA1EC-9C2B-45CD-8777-454D7AB382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A35539-0D9D-4F39-A215-82A46FF80F52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F6D5140-60FD-49E9-BED4-AE827D143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3CB5E-4D52-4C80-B491-A0EFF9506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9798B8-79D5-4ACF-9BBC-BDBE217621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797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4"/>
    <p:sldLayoutId id="2147483660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slide" Target="slide30.xml"/><Relationship Id="rId3" Type="http://schemas.openxmlformats.org/officeDocument/2006/relationships/slide" Target="slide25.xml"/><Relationship Id="rId7" Type="http://schemas.openxmlformats.org/officeDocument/2006/relationships/slide" Target="slide29.xml"/><Relationship Id="rId12" Type="http://schemas.openxmlformats.org/officeDocument/2006/relationships/slide" Target="slide34.xml"/><Relationship Id="rId2" Type="http://schemas.openxmlformats.org/officeDocument/2006/relationships/slide" Target="slide24.xml"/><Relationship Id="rId1" Type="http://schemas.openxmlformats.org/officeDocument/2006/relationships/slideLayout" Target="../slideLayouts/slideLayout4.xml"/><Relationship Id="rId6" Type="http://schemas.openxmlformats.org/officeDocument/2006/relationships/slide" Target="slide28.xml"/><Relationship Id="rId11" Type="http://schemas.openxmlformats.org/officeDocument/2006/relationships/slide" Target="slide33.xml"/><Relationship Id="rId5" Type="http://schemas.openxmlformats.org/officeDocument/2006/relationships/slide" Target="slide27.xml"/><Relationship Id="rId10" Type="http://schemas.openxmlformats.org/officeDocument/2006/relationships/slide" Target="slide32.xml"/><Relationship Id="rId4" Type="http://schemas.openxmlformats.org/officeDocument/2006/relationships/slide" Target="slide26.xml"/><Relationship Id="rId9" Type="http://schemas.openxmlformats.org/officeDocument/2006/relationships/slide" Target="slide3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3" Type="http://schemas.openxmlformats.org/officeDocument/2006/relationships/slide" Target="slide36.xml"/><Relationship Id="rId7" Type="http://schemas.openxmlformats.org/officeDocument/2006/relationships/slide" Target="slide40.xml"/><Relationship Id="rId12" Type="http://schemas.openxmlformats.org/officeDocument/2006/relationships/slide" Target="slide45.xml"/><Relationship Id="rId2" Type="http://schemas.openxmlformats.org/officeDocument/2006/relationships/slide" Target="slide35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9.xml"/><Relationship Id="rId11" Type="http://schemas.openxmlformats.org/officeDocument/2006/relationships/slide" Target="slide44.xml"/><Relationship Id="rId5" Type="http://schemas.openxmlformats.org/officeDocument/2006/relationships/slide" Target="slide38.xml"/><Relationship Id="rId10" Type="http://schemas.openxmlformats.org/officeDocument/2006/relationships/slide" Target="slide43.xml"/><Relationship Id="rId4" Type="http://schemas.openxmlformats.org/officeDocument/2006/relationships/slide" Target="slide37.xml"/><Relationship Id="rId9" Type="http://schemas.openxmlformats.org/officeDocument/2006/relationships/slide" Target="slide4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3" Type="http://schemas.openxmlformats.org/officeDocument/2006/relationships/slide" Target="slide47.xml"/><Relationship Id="rId7" Type="http://schemas.openxmlformats.org/officeDocument/2006/relationships/slide" Target="slide51.xml"/><Relationship Id="rId2" Type="http://schemas.openxmlformats.org/officeDocument/2006/relationships/slide" Target="slide46.xml"/><Relationship Id="rId1" Type="http://schemas.openxmlformats.org/officeDocument/2006/relationships/slideLayout" Target="../slideLayouts/slideLayout4.xml"/><Relationship Id="rId6" Type="http://schemas.openxmlformats.org/officeDocument/2006/relationships/slide" Target="slide50.xml"/><Relationship Id="rId5" Type="http://schemas.openxmlformats.org/officeDocument/2006/relationships/slide" Target="slide49.xml"/><Relationship Id="rId10" Type="http://schemas.openxmlformats.org/officeDocument/2006/relationships/slide" Target="slide54.xml"/><Relationship Id="rId4" Type="http://schemas.openxmlformats.org/officeDocument/2006/relationships/slide" Target="slide48.xml"/><Relationship Id="rId9" Type="http://schemas.openxmlformats.org/officeDocument/2006/relationships/slide" Target="slide5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id?userid=administrator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google?google=google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naver?naver=naver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ginkakao?kakao=kakao*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10.125.121.176:8080/api/v1/logingoogle?google=google*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naver?naver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validatekakao?kakao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joinUser?useri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join/modifyUser?currentPassword=" TargetMode="External"/><Relationship Id="rId2" Type="http://schemas.openxmlformats.org/officeDocument/2006/relationships/slide" Target="slide21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favorite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location/select?user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name?name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location?location=" TargetMode="External"/><Relationship Id="rId2" Type="http://schemas.openxmlformats.org/officeDocument/2006/relationships/slide" Target="slide2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weather/chart?location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odifyFishDetail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hyperlink" Target="&#51060;&#48120;&#51648;&#51452;&#49548;" TargetMode="Externa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emberlist?pageNo=1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5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modifyUserEnabled?user_no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admin/FetchLogList?logType=All&amp;pageNo=1&amp;numOfRows=10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Relationship Id="rId4" Type="http://schemas.openxmlformats.org/officeDocument/2006/relationships/slide" Target="slide69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25.121.176:8080/api/v1/fish/topPoint?count=" TargetMode="External"/><Relationship Id="rId2" Type="http://schemas.openxmlformats.org/officeDocument/2006/relationships/slide" Target="slide23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CFD1F07-6C82-49D2-B25C-7FBBA50B97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부제목 4">
            <a:extLst>
              <a:ext uri="{FF2B5EF4-FFF2-40B4-BE49-F238E27FC236}">
                <a16:creationId xmlns:a16="http://schemas.microsoft.com/office/drawing/2014/main" id="{94DEFAD6-9020-42DF-8F23-F189C7B549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/>
              <a:t>BE : </a:t>
            </a:r>
            <a:r>
              <a:rPr lang="ko-KR" altLang="en-US" dirty="0"/>
              <a:t>박민규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FE : </a:t>
            </a:r>
            <a:r>
              <a:rPr lang="ko-KR" altLang="en-US" dirty="0" err="1"/>
              <a:t>김향자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689087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FD82F4-6680-4E4F-8739-A31146DA9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1862F-4A01-49E0-9618-E0FE1F3DB9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  <a:endParaRPr lang="en-US" altLang="ko-KR" dirty="0"/>
          </a:p>
          <a:p>
            <a:r>
              <a:rPr lang="ko-KR" altLang="en-US" dirty="0"/>
              <a:t>핵심기능</a:t>
            </a:r>
            <a:endParaRPr lang="en-US" altLang="ko-KR" dirty="0"/>
          </a:p>
          <a:p>
            <a:r>
              <a:rPr lang="ko-KR" altLang="en-US" dirty="0" err="1"/>
              <a:t>비기능</a:t>
            </a:r>
            <a:r>
              <a:rPr lang="ko-KR" altLang="en-US" dirty="0"/>
              <a:t> 요구사항</a:t>
            </a:r>
          </a:p>
        </p:txBody>
      </p:sp>
    </p:spTree>
    <p:extLst>
      <p:ext uri="{BB962C8B-B14F-4D97-AF65-F5344CB8AC3E}">
        <p14:creationId xmlns:p14="http://schemas.microsoft.com/office/powerpoint/2010/main" val="2080900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44AEF1-DA9F-4967-9E9F-169A0F25B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456973-A70B-453F-BAFC-29947F0B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330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프로젝트 개요</a:t>
            </a:r>
            <a:endParaRPr lang="ko-KR" altLang="ko-KR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출처 </a:t>
            </a:r>
            <a:r>
              <a:rPr lang="en-US" altLang="ko-KR" dirty="0"/>
              <a:t>: </a:t>
            </a:r>
            <a:r>
              <a:rPr lang="ko-KR" altLang="en-US" dirty="0" err="1"/>
              <a:t>공공데이터포털</a:t>
            </a:r>
            <a:r>
              <a:rPr lang="en-US" altLang="ko-KR" dirty="0"/>
              <a:t>(https://www.data.go.kr/data/15142486/openapi.do)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내용 </a:t>
            </a:r>
            <a:r>
              <a:rPr lang="en-US" altLang="ko-KR" dirty="0"/>
              <a:t>:</a:t>
            </a:r>
            <a:r>
              <a:rPr lang="ko-KR" altLang="en-US" b="1" dirty="0">
                <a:solidFill>
                  <a:srgbClr val="000080"/>
                </a:solidFill>
                <a:effectLst/>
                <a:latin typeface="Consolas" panose="020B0609020204030204" pitchFamily="49" charset="0"/>
              </a:rPr>
              <a:t>실시간 바다낚시 지수 및 해양 데이터 예측 대시보드</a:t>
            </a:r>
            <a:endParaRPr lang="ko-KR" altLang="en-US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ko-KR" altLang="en-US" dirty="0"/>
              <a:t>소개</a:t>
            </a:r>
            <a:r>
              <a:rPr lang="en-US" altLang="ko-KR" dirty="0"/>
              <a:t>:</a:t>
            </a:r>
          </a:p>
          <a:p>
            <a:pPr>
              <a:lnSpc>
                <a:spcPct val="150000"/>
              </a:lnSpc>
            </a:pP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해양수산부 국립해양조사원에서 전국의 주요 낚시포인트를 대상으로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조석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 등 정보를 이용하여 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5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단계로 지수화한 바다낚시지수 정보를 제공하기 위해 제작되었습니다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위치 구분 등 값을 파라미터로 데이터를 조회할 수 있으며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주요 내용은 낚시 포인트 위치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날짜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시간대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물때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파고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수온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유속을 기반으로 한 어종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어종별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낚시지수와 낚시점수 정보로 구성되어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br>
              <a:rPr lang="ko-KR" altLang="en-US" dirty="0"/>
            </a:b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이 데이터는 특정 지역의 낚시 조건을 사전에 파악하여 </a:t>
            </a:r>
            <a:r>
              <a:rPr lang="ko-KR" altLang="en-US" b="0" i="0" dirty="0" err="1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출조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 계획을 세우는 데 활용될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또한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ko-KR" altLang="en-US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낚시 관련 업계에서는 고객에게 최적의 낚시 정보를 제공하는 데 활용할 수 있습니다</a:t>
            </a:r>
            <a:r>
              <a:rPr lang="en-US" altLang="ko-KR" b="0" i="0" dirty="0">
                <a:solidFill>
                  <a:srgbClr val="3B4151"/>
                </a:solidFill>
                <a:effectLst/>
                <a:latin typeface="Arial" panose="020B0604020202020204" pitchFamily="34" charset="0"/>
              </a:rPr>
              <a:t>.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주요 목표</a:t>
            </a:r>
            <a:r>
              <a:rPr lang="en-US" altLang="ko-KR" dirty="0"/>
              <a:t>: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전국의 주요 낚시 포인트별 실시간 해양 데이터와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어종별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낚시 지수를 시각적으로 제공하여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 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낚시객들이 최적의 </a:t>
            </a:r>
            <a:r>
              <a:rPr lang="ko-KR" altLang="ko-KR" sz="2700" dirty="0" err="1">
                <a:solidFill>
                  <a:srgbClr val="3B4151"/>
                </a:solidFill>
                <a:latin typeface="Arial" panose="020B0604020202020204" pitchFamily="34" charset="0"/>
              </a:rPr>
              <a:t>출조</a:t>
            </a:r>
            <a:r>
              <a:rPr lang="ko-KR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 계획을 수립하고 안전한 낚시 활동을 할 수 있도록 지원</a:t>
            </a:r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키워드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: 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해수면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갯바위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선상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지수정보</a:t>
            </a:r>
            <a:r>
              <a:rPr lang="en-US" altLang="ko-KR" sz="2700" dirty="0">
                <a:solidFill>
                  <a:srgbClr val="3B4151"/>
                </a:solidFill>
                <a:latin typeface="Arial" panose="020B0604020202020204" pitchFamily="34" charset="0"/>
              </a:rPr>
              <a:t>,</a:t>
            </a:r>
            <a:r>
              <a:rPr lang="ko-KR" altLang="en-US" sz="2700" dirty="0">
                <a:solidFill>
                  <a:srgbClr val="3B4151"/>
                </a:solidFill>
                <a:latin typeface="Arial" panose="020B0604020202020204" pitchFamily="34" charset="0"/>
              </a:rPr>
              <a:t>해양기상</a:t>
            </a:r>
            <a:endParaRPr lang="en-US" altLang="ko-KR" sz="2700" dirty="0">
              <a:solidFill>
                <a:srgbClr val="3B4151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2102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(1) - </a:t>
            </a: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1.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메인 대시보드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주요 요약 지표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(KPI Widgets)**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totalIndex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부터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'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'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까지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5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단계의 텍스트와 색상으로 현재 낚시 여건을 직관적으로 표시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바나낚시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lastScr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)/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물떄점수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): 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낚시 적합도를 </a:t>
            </a:r>
            <a:r>
              <a:rPr lang="ko-KR" altLang="ko-KR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수치화된</a:t>
            </a:r>
            <a:r>
              <a:rPr lang="ko-KR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</a:rPr>
              <a:t> 점수로 제공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기반 시각화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(Map View)**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낚시 포인트의 상태를 지도 위에 시각화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위치 마커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지수에 따라 마커 색상을 다르게 표현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매우좋음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파랑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매우나쁨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빨강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**Chart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조회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지도에서 특정 지점을 클릭하면 해당 지역의 상세 데이터가 즉시 나타나도록 구현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8032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(2) – </a:t>
            </a:r>
            <a:r>
              <a:rPr lang="ko-KR" altLang="en-US" sz="4400" b="1" kern="0" dirty="0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필터링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2.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핵심 기능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정보 및  필터링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해양 및 기상 상세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(Detailed Metrics)**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낚시 환경에 직접적 영향을 주는 요소를 차트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그래프로 시각화</a:t>
            </a:r>
            <a:endParaRPr lang="en-US" altLang="ko-KR" sz="1400" b="1" kern="0" dirty="0">
              <a:solidFill>
                <a:srgbClr val="000080"/>
              </a:solidFill>
              <a:latin typeface="새굴림" panose="02030600000101010101" pitchFamily="18" charset="-127"/>
              <a:ea typeface="새굴림" panose="02030600000101010101" pitchFamily="18" charset="-127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 및 바람 차트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최소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최대 파고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maxWvhgt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풍속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maxWspd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비교하여 안전성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 및 기온 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maxWtem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과 기온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maxArtmp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범위를 표시하여 대상 어종의 활성도 예측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조류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정보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 범위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(min/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maxCrsp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통해 물때에 따른 낚시 환경 제공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대상 </a:t>
            </a:r>
            <a:r>
              <a:rPr lang="ko-KR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맞춤 필터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(Target Fish Filter)**</a:t>
            </a:r>
            <a:endParaRPr lang="en-US" altLang="ko-KR" sz="14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사용자가 원하는 대상 어종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seafsTgfshNm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을 선택하여 해당 어종에 최적화된 지수 확인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어종별로 계산된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물때 점수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4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tdlvHrScr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를 별도로 표시하여 공략 시간 결정에 도움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123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146C3-B8B0-406D-84B8-A9D32AF24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en-US" b="1" kern="0" dirty="0" err="1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</a:t>
            </a:r>
            <a:r>
              <a:rPr lang="ko-KR" altLang="ko-KR" sz="4400" b="1" kern="0" dirty="0" err="1">
                <a:solidFill>
                  <a:srgbClr val="80000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기능</a:t>
            </a:r>
            <a:r>
              <a:rPr lang="en-US" altLang="ko-KR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en-US" b="1" kern="0" dirty="0">
                <a:solidFill>
                  <a:srgbClr val="80000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요구사항</a:t>
            </a:r>
            <a:r>
              <a:rPr lang="en-US" altLang="ko-KR" sz="4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endParaRPr lang="ko-KR" altLang="ko-KR" sz="4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7C1980-B133-4650-A4DD-E3CADB853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. </a:t>
            </a:r>
            <a:r>
              <a:rPr lang="ko-KR" altLang="en-US" sz="14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비기능</a:t>
            </a:r>
            <a:r>
              <a:rPr lang="ko-KR" altLang="en-US" sz="14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요구사항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성능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호출 및 데이터 로딩 시간은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**3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초 이내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에 완료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 스크롤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필터링 등 사용자 인터랙션은 지연 없이 즉각적으로 반응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IT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기기에 익숙하지 않은 사용자도 쉽게 이해하고 사용할 수 있는 직관적인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UI/UX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PC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 모바일 환경을 모두 지원하는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반응형 웹 디자인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적용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신뢰성 및 확장성</a:t>
            </a:r>
            <a:r>
              <a:rPr lang="en-US" altLang="ko-KR" sz="14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외부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API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장애 발생 시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사용자에게 명확한 안내 메시지 전달</a:t>
            </a:r>
            <a:endParaRPr lang="en-US" altLang="ko-KR" sz="14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4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ko-KR" altLang="ko-KR" sz="14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향후 새로운 낚시 포인트나 어종이 추가될 경우 유연하게 반영 가능한 구조로 설계</a:t>
            </a:r>
            <a:endParaRPr lang="ko-KR" altLang="ko-KR" sz="14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ko-KR" altLang="en-US" sz="14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70754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0AD85B-ACA6-40B9-ADDC-E948BAF45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새굴림" panose="02030600000101010101" pitchFamily="18" charset="-127"/>
                <a:ea typeface="새굴림" panose="02030600000101010101" pitchFamily="18" charset="-127"/>
              </a:rPr>
              <a:t>예상화면 구성</a:t>
            </a:r>
            <a:r>
              <a:rPr lang="en-US" altLang="ko-KR" dirty="0">
                <a:latin typeface="새굴림" panose="02030600000101010101" pitchFamily="18" charset="-127"/>
                <a:ea typeface="새굴림" panose="02030600000101010101" pitchFamily="18" charset="-127"/>
              </a:rPr>
              <a:t>(UI/UX)</a:t>
            </a:r>
            <a:endParaRPr lang="ko-KR" altLang="en-US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7861D8-B378-4EFD-AB5A-53A0867A8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l" latinLnBrk="0">
              <a:lnSpc>
                <a:spcPts val="1425"/>
              </a:lnSpc>
              <a:spcAft>
                <a:spcPts val="800"/>
              </a:spcAft>
            </a:pP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예상 화면 구성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(UI/UX 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와이어프레임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 헤더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서비스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TITLE,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로고</a:t>
            </a:r>
            <a:endParaRPr lang="en-US" altLang="ko-KR" sz="1200" kern="0" dirty="0">
              <a:solidFill>
                <a:srgbClr val="3B3B3B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굴림" panose="020B0600000101010101" pitchFamily="50" charset="-127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선택된 지역의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KPI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위젯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통합 지수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최종 점수 등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오늘의 바다낚시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: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 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물때점수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바다낚시지수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 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중앙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지도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&gt;&gt; </a:t>
            </a:r>
            <a:r>
              <a:rPr lang="ko-KR" altLang="en-US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오늘의 지표 지도 표시 후 클릭 후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&gt;&gt;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2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 예정</a:t>
            </a:r>
            <a:endParaRPr lang="en-US" altLang="ko-KR" sz="1200" b="1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</a:t>
            </a:r>
            <a:r>
              <a:rPr lang="ko-KR" altLang="en-US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검색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en-US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SearchBar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: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전국 지도가 표시되며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각 포인트에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상태별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색상 마커 존재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algn="l" latinLnBrk="0">
              <a:lnSpc>
                <a:spcPts val="1425"/>
              </a:lnSpc>
              <a:spcAft>
                <a:spcPts val="800"/>
              </a:spcAft>
              <a:buFontTx/>
              <a:buChar char="-"/>
            </a:pP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어종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물때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 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파고 </a:t>
            </a:r>
            <a:r>
              <a:rPr lang="en-US" altLang="ko-KR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/</a:t>
            </a:r>
            <a:r>
              <a:rPr lang="ko-KR" altLang="en-US" sz="1200" kern="0" dirty="0">
                <a:solidFill>
                  <a:srgbClr val="3B3B3B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수온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우측 패널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시계열</a:t>
            </a:r>
            <a:r>
              <a:rPr lang="ko-KR" altLang="en-US" sz="1200" b="1" kern="0" dirty="0" err="1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챠트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 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페이지 </a:t>
            </a:r>
            <a:r>
              <a:rPr lang="en-US" altLang="ko-KR" sz="1200" b="1" kern="0" dirty="0">
                <a:solidFill>
                  <a:srgbClr val="000080"/>
                </a:solidFill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3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페이지 연동예정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: </a:t>
            </a:r>
            <a:r>
              <a:rPr lang="ko-KR" altLang="en-US" sz="1200" b="1" kern="0" dirty="0" err="1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어종별</a:t>
            </a:r>
            <a:r>
              <a:rPr lang="ko-KR" altLang="en-US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낚시지수</a:t>
            </a:r>
            <a:endParaRPr lang="en-US" altLang="ko-KR" sz="1200" kern="100" dirty="0"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중단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어종 선택 필터 및 시간대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/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오후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선택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토글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0" indent="0" algn="l" latinLnBrk="0">
              <a:lnSpc>
                <a:spcPts val="1425"/>
              </a:lnSpc>
              <a:spcAft>
                <a:spcPts val="800"/>
              </a:spcAft>
              <a:buNone/>
            </a:pPr>
            <a:r>
              <a:rPr lang="en-US" altLang="ko-KR" sz="1200" kern="0" dirty="0">
                <a:solidFill>
                  <a:srgbClr val="0451A5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-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  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**(</a:t>
            </a:r>
            <a:r>
              <a:rPr lang="ko-KR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하단</a:t>
            </a:r>
            <a:r>
              <a:rPr lang="en-US" altLang="ko-KR" sz="1200" b="1" kern="0" dirty="0">
                <a:solidFill>
                  <a:srgbClr val="000080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)**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상세 </a:t>
            </a:r>
            <a:r>
              <a:rPr lang="ko-KR" altLang="ko-KR" sz="1200" kern="0" dirty="0" err="1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메트릭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차트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 (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파고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풍속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수온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기온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, </a:t>
            </a:r>
            <a:r>
              <a:rPr lang="ko-KR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유속</a:t>
            </a:r>
            <a:r>
              <a:rPr lang="en-US" altLang="ko-KR" sz="1200" kern="0" dirty="0">
                <a:solidFill>
                  <a:srgbClr val="3B3B3B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굴림" panose="020B0600000101010101" pitchFamily="50" charset="-127"/>
              </a:rPr>
              <a:t>)</a:t>
            </a:r>
            <a:endParaRPr lang="ko-KR" altLang="ko-KR" sz="1200" kern="1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endParaRPr lang="ko-KR" altLang="en-US" sz="1200" dirty="0">
              <a:latin typeface="새굴림" panose="02030600000101010101" pitchFamily="18" charset="-127"/>
              <a:ea typeface="새굴림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7471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9951"/>
            <a:ext cx="4346532" cy="2852737"/>
          </a:xfrm>
        </p:spPr>
        <p:txBody>
          <a:bodyPr>
            <a:normAutofit/>
          </a:bodyPr>
          <a:lstStyle/>
          <a:p>
            <a:pPr algn="ctr"/>
            <a:r>
              <a:rPr lang="ko-KR" altLang="en-US" sz="4400" dirty="0"/>
              <a:t>시스템 구성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1ED91F-9754-4454-8C82-70916DDC1D37}"/>
              </a:ext>
            </a:extLst>
          </p:cNvPr>
          <p:cNvSpPr txBox="1"/>
          <p:nvPr/>
        </p:nvSpPr>
        <p:spPr>
          <a:xfrm>
            <a:off x="4990665" y="1246275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Frontend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14+</a:t>
            </a:r>
            <a:r>
              <a:rPr lang="en-US" altLang="ko-KR" dirty="0"/>
              <a:t> - React </a:t>
            </a:r>
            <a:r>
              <a:rPr lang="ko-KR" altLang="en-US" dirty="0"/>
              <a:t>프레임워크</a:t>
            </a:r>
            <a:r>
              <a:rPr lang="en-US" altLang="ko-KR" dirty="0"/>
              <a:t>, SSR/SSG </a:t>
            </a:r>
            <a:r>
              <a:rPr lang="ko-KR" altLang="en-US" dirty="0"/>
              <a:t>지원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TypeScript</a:t>
            </a:r>
            <a:r>
              <a:rPr lang="en-US" altLang="ko-KR" dirty="0"/>
              <a:t> - </a:t>
            </a:r>
            <a:r>
              <a:rPr lang="ko-KR" altLang="en-US" dirty="0"/>
              <a:t>타입 안정성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Tailwind CSS</a:t>
            </a:r>
            <a:r>
              <a:rPr lang="en-US" altLang="ko-KR" dirty="0"/>
              <a:t> - </a:t>
            </a:r>
            <a:r>
              <a:rPr lang="ko-KR" altLang="en-US" dirty="0"/>
              <a:t>스타일링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Recharts</a:t>
            </a:r>
            <a:r>
              <a:rPr lang="en-US" altLang="ko-KR" dirty="0"/>
              <a:t> - </a:t>
            </a:r>
            <a:r>
              <a:rPr lang="ko-KR" altLang="en-US" dirty="0"/>
              <a:t>차트 라이브러리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Framer Motion</a:t>
            </a:r>
            <a:r>
              <a:rPr lang="en-US" altLang="ko-KR" dirty="0"/>
              <a:t> - </a:t>
            </a:r>
            <a:r>
              <a:rPr lang="ko-KR" altLang="en-US" dirty="0"/>
              <a:t>애니메이션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9A105-76AD-49F8-909D-4F1417252A43}"/>
              </a:ext>
            </a:extLst>
          </p:cNvPr>
          <p:cNvSpPr txBox="1"/>
          <p:nvPr/>
        </p:nvSpPr>
        <p:spPr>
          <a:xfrm>
            <a:off x="5049120" y="3602595"/>
            <a:ext cx="60939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Backend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Next.js API Routes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서버리스 </a:t>
            </a:r>
            <a:r>
              <a:rPr lang="en-US" altLang="ko-KR" dirty="0"/>
              <a:t>API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Prisma ORM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데이터베이스 접근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PostgreSQL</a:t>
            </a:r>
            <a:r>
              <a:rPr lang="ko-KR" altLang="en-US" dirty="0"/>
              <a:t> </a:t>
            </a:r>
            <a:r>
              <a:rPr lang="en-US" altLang="ko-KR" dirty="0"/>
              <a:t>- </a:t>
            </a:r>
            <a:r>
              <a:rPr lang="ko-KR" altLang="en-US" dirty="0"/>
              <a:t>관계형 데이터베이스</a:t>
            </a:r>
          </a:p>
        </p:txBody>
      </p:sp>
    </p:spTree>
    <p:extLst>
      <p:ext uri="{BB962C8B-B14F-4D97-AF65-F5344CB8AC3E}">
        <p14:creationId xmlns:p14="http://schemas.microsoft.com/office/powerpoint/2010/main" val="1659668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3692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A0E77B-2A3C-495F-B540-F8C064AC6F4E}"/>
              </a:ext>
            </a:extLst>
          </p:cNvPr>
          <p:cNvSpPr txBox="1"/>
          <p:nvPr/>
        </p:nvSpPr>
        <p:spPr>
          <a:xfrm>
            <a:off x="182153" y="46600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대시보드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8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흐름도</a:t>
            </a:r>
            <a:r>
              <a:rPr lang="en-US" altLang="ko-KR" sz="18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(API → atoms → components)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9F7025-884D-4B4C-952F-1F8F04115569}"/>
              </a:ext>
            </a:extLst>
          </p:cNvPr>
          <p:cNvSpPr txBox="1"/>
          <p:nvPr/>
        </p:nvSpPr>
        <p:spPr>
          <a:xfrm>
            <a:off x="2299573" y="2052345"/>
            <a:ext cx="56168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spcAft>
                <a:spcPts val="1000"/>
              </a:spcAft>
            </a:pP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[External API]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(fetch / server action)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[atoms]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좌표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로직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계산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분기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▼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[UI Components]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통합지수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파고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풍속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수온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</a:t>
            </a:r>
            <a:r>
              <a:rPr lang="en-US" altLang="ko-KR" sz="12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KakaoMapArea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마커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색상</a:t>
            </a:r>
            <a:b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- Popup          ←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위험</a:t>
            </a:r>
            <a:r>
              <a:rPr lang="en-US" altLang="ko-KR" sz="12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1200" dirty="0" err="1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알림</a:t>
            </a:r>
            <a:endParaRPr lang="ko-KR" altLang="ko-KR" sz="1200" dirty="0">
              <a:effectLst/>
              <a:latin typeface="Consolas" panose="020B0609020204030204" pitchFamily="49" charset="0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4D331E-3F64-4888-9816-FCB0F067A206}"/>
              </a:ext>
            </a:extLst>
          </p:cNvPr>
          <p:cNvSpPr txBox="1"/>
          <p:nvPr/>
        </p:nvSpPr>
        <p:spPr>
          <a:xfrm>
            <a:off x="182153" y="808503"/>
            <a:ext cx="6093912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흐름</a:t>
            </a:r>
            <a:r>
              <a:rPr lang="en-US" altLang="ko-KR" sz="14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4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특징</a:t>
            </a:r>
            <a:endParaRPr lang="ko-KR" altLang="ko-KR" sz="14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단방향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데이터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</a:t>
            </a:r>
            <a:r>
              <a:rPr lang="en-US" altLang="ko-KR" sz="1200" b="1" dirty="0" err="1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흐름</a:t>
            </a:r>
            <a:r>
              <a:rPr lang="en-US" altLang="ko-KR" sz="12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(Unidirectional Data Flow)</a:t>
            </a:r>
            <a:endParaRPr lang="ko-KR" altLang="ko-KR" sz="12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클릭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atom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업데이트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→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모든 컴포넌트 동기 반영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KPI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차트</a:t>
            </a:r>
            <a:r>
              <a:rPr lang="en-US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/ </a:t>
            </a:r>
            <a:r>
              <a:rPr lang="ko-KR" altLang="ko-KR" sz="12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지도 상태 불일치 방지</a:t>
            </a:r>
          </a:p>
        </p:txBody>
      </p:sp>
    </p:spTree>
    <p:extLst>
      <p:ext uri="{BB962C8B-B14F-4D97-AF65-F5344CB8AC3E}">
        <p14:creationId xmlns:p14="http://schemas.microsoft.com/office/powerpoint/2010/main" val="2134127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 err="1"/>
              <a:t>아키택처</a:t>
            </a:r>
            <a:r>
              <a:rPr kumimoji="1" lang="ko-KR" altLang="en-US" sz="1000" dirty="0"/>
              <a:t> 설계 의도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8FFE89-0DE3-4F7A-96A7-132C0DC7989B}"/>
              </a:ext>
            </a:extLst>
          </p:cNvPr>
          <p:cNvSpPr txBox="1"/>
          <p:nvPr/>
        </p:nvSpPr>
        <p:spPr>
          <a:xfrm>
            <a:off x="5088959" y="855379"/>
            <a:ext cx="3278427" cy="545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┌───────────────────────────────────────┐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External API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바다낚시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기상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해양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공공데이터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(fetch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axios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Data Layer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atoms (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상태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관리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: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위치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)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atomLocation.ts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(subscribe)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Domain / Logic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데이터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가공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필터링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,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점수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선택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-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어종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오전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·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오후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지역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</a:t>
            </a:r>
            <a:r>
              <a:rPr lang="en-US" altLang="ko-KR" sz="900" dirty="0" err="1">
                <a:effectLst/>
                <a:latin typeface="맑은 고딕" panose="020B0503020000020004" pitchFamily="50" charset="-127"/>
                <a:cs typeface="Times New Roman" panose="02020603050405020304" pitchFamily="18" charset="0"/>
              </a:rPr>
              <a:t>기준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(props / hooks)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   UI Layer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components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KpiSection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KpiCard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ForecastPanel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SearchBar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/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SideBar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Popup   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└───────────────────▲───────────────────┘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│ (composition)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┌───────────────────┴───────────────────┐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         Routing / Page Layer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app (Next.js App Router)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dashboard/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├─ chart/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ChartPage.tsx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│</a:t>
            </a:r>
            <a:br>
              <a:rPr lang="en-US" altLang="ko-KR" sz="1000" dirty="0"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</a:b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│   └─ 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KakaoMap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lang="en-US" altLang="ko-KR" sz="900" dirty="0" err="1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page.tsx</a:t>
            </a:r>
            <a:r>
              <a:rPr lang="en-US" altLang="ko-KR" sz="900" dirty="0"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                 │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A276CE-D6C3-4531-9325-1FB11428403B}"/>
              </a:ext>
            </a:extLst>
          </p:cNvPr>
          <p:cNvSpPr txBox="1"/>
          <p:nvPr/>
        </p:nvSpPr>
        <p:spPr>
          <a:xfrm>
            <a:off x="182153" y="376903"/>
            <a:ext cx="6093912" cy="11644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아키텍처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설계</a:t>
            </a:r>
            <a:r>
              <a:rPr lang="en-US" altLang="ko-KR" sz="1600" b="1" dirty="0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 </a:t>
            </a:r>
            <a:r>
              <a:rPr lang="en-US" altLang="ko-KR" sz="1600" b="1" dirty="0" err="1">
                <a:solidFill>
                  <a:srgbClr val="0F476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Times New Roman" panose="02020603050405020304" pitchFamily="18" charset="0"/>
              </a:rPr>
              <a:t>의도</a:t>
            </a:r>
            <a:endParaRPr lang="ko-KR" altLang="ko-KR" sz="1600" b="1" dirty="0">
              <a:solidFill>
                <a:srgbClr val="0F4761"/>
              </a:solidFill>
              <a:effectLst/>
              <a:latin typeface="새굴림" panose="02030600000101010101" pitchFamily="18" charset="-127"/>
              <a:ea typeface="새굴림" panose="02030600000101010101" pitchFamily="18" charset="-127"/>
              <a:cs typeface="Times New Roman" panose="02020603050405020304" pitchFamily="18" charset="0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API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변경에도</a:t>
            </a:r>
            <a:r>
              <a:rPr lang="en-US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 UI </a:t>
            </a:r>
            <a:r>
              <a:rPr lang="ko-KR" altLang="ko-KR" sz="1400" b="1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최소 영향</a:t>
            </a:r>
            <a:endParaRPr lang="ko-KR" altLang="ko-KR" sz="1400" dirty="0">
              <a:effectLst/>
              <a:latin typeface="새굴림" panose="02030600000101010101" pitchFamily="18" charset="-127"/>
              <a:ea typeface="새굴림" panose="02030600000101010101" pitchFamily="18" charset="-127"/>
              <a:cs typeface="Symbol" panose="05050102010706020507" pitchFamily="18" charset="2"/>
            </a:endParaRP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상태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(atom)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중심 단방향 데이터 흐름 유지</a:t>
            </a:r>
          </a:p>
          <a:p>
            <a:pPr marL="342900" lvl="0" indent="-342900">
              <a:spcBef>
                <a:spcPts val="180"/>
              </a:spcBef>
              <a:spcAft>
                <a:spcPts val="180"/>
              </a:spcAft>
              <a:buFont typeface="Symbol" panose="05050102010706020507" pitchFamily="18" charset="2"/>
              <a:buChar char=""/>
            </a:pP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페이지는 조합만 담당</a:t>
            </a:r>
            <a:r>
              <a:rPr lang="en-US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, </a:t>
            </a:r>
            <a:r>
              <a:rPr lang="ko-KR" altLang="ko-KR" sz="1400" dirty="0">
                <a:effectLst/>
                <a:latin typeface="새굴림" panose="02030600000101010101" pitchFamily="18" charset="-127"/>
                <a:ea typeface="새굴림" panose="02030600000101010101" pitchFamily="18" charset="-127"/>
                <a:cs typeface="Symbol" panose="05050102010706020507" pitchFamily="18" charset="2"/>
              </a:rPr>
              <a:t>로직은 하위 레이어로 위임</a:t>
            </a:r>
          </a:p>
        </p:txBody>
      </p:sp>
    </p:spTree>
    <p:extLst>
      <p:ext uri="{BB962C8B-B14F-4D97-AF65-F5344CB8AC3E}">
        <p14:creationId xmlns:p14="http://schemas.microsoft.com/office/powerpoint/2010/main" val="2694416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907C0F-10BE-495B-9861-D5D0E4EA97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1485" y="602105"/>
            <a:ext cx="10368241" cy="54784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1. 주요 요약 지표 (KPI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Widgets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대시보드 상단에는 선택한 지역의 핵심 상태를 한눈에 볼 수 있는 위젯을 배치합니다.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totalIndex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좋음', '좋음', '보통', '나쁨', ‘매우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 등 현재 낚시 여건을 텍스트와 색상으로 강조합니다.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최종 점수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lastScr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해당 지역의 낚시 적합성을 수치화한 점수를 표시합니다.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예보 시간 및 시점: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예보 날짜(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predcYmd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오전/오후(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predcNoonSeCd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명시하여 사용자가 혼동하지 않게 합니다.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2. 지도 기반 시각화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View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데이터의 위도(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lat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경도(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lot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 정보를 활용하여 전국 낚시 포인트의 상태를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위치 마커: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', '거문도', '거제도' 등 각 지점의 위치에 마커를 찍고,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통합 지수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에 따라 마커 색상을 다르게 표현합니다 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매우좋음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-파랑,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매우나쁨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-빨강).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지역별 검색: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지도에서 특정 지점(예: 서귀포, 울릉도)을 클릭하면 해당 지역의 상세 데이터가 나타나도록 구현합니다.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3. 해양 및 기상 상세 정보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Detailed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Metrics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낚시 환경에 직접적인 영향을 주는 요소들을 차트나 그래프로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시각화합니다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파고 및 바람 차트: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최소/최대 파고(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maxWvhgt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)와 풍속(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maxWspd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)을 비교 막대그래프나 게이지 차트로 보여주어 안전성을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수온 및 기온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수온(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maxWtem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)과 기온(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maxArtmp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범위를 표시하여 대상 어종의 활성도를 예측하게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유속(조류) 정보: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유속의 범위(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minCrsp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maxCrsp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통해 물때에 따른 낚시 환경을 제공합니다.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4. 대상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맞춤 필터 (Target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Fish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Filter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데이터에는 동일 지점이라도 어종에 따라 지수가 다르게 설정되어 있습니다.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어종 선택: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감성돔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농어, 참돔, 우럭,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돌돔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벵에돔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등 사용자가 원하는 **대상 어종(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seafsTgfshNm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)**을 필터링하여 해당 어종에 최적화된 지수를 확인하게 합니다.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물때 점수: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어종별로 계산된 물때 점수(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rgbClr val="282A2C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tdlvHrScr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별도로 표시하여 공략 시간을 결정하는 데 도움을 줍니다.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5. 대시보드 인터랙션 가이드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•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오전/오후 비교: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동일 지역(예: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가거도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)의 오전과 오후 데이터를 비교하여 지수가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보통'에서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'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나쁨'으로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변하는 등의 추세를 보여주면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출조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새굴림" panose="02030600000101010101" pitchFamily="18" charset="-127"/>
                <a:ea typeface="새굴림" panose="02030600000101010101" pitchFamily="18" charset="-127"/>
              </a:rPr>
              <a:t> 시간 결정에 유용합니다.</a:t>
            </a:r>
          </a:p>
        </p:txBody>
      </p:sp>
    </p:spTree>
    <p:extLst>
      <p:ext uri="{BB962C8B-B14F-4D97-AF65-F5344CB8AC3E}">
        <p14:creationId xmlns:p14="http://schemas.microsoft.com/office/powerpoint/2010/main" val="34776936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400" dirty="0"/>
              <a:t>화면 설계서</a:t>
            </a:r>
          </a:p>
        </p:txBody>
      </p:sp>
    </p:spTree>
    <p:extLst>
      <p:ext uri="{BB962C8B-B14F-4D97-AF65-F5344CB8AC3E}">
        <p14:creationId xmlns:p14="http://schemas.microsoft.com/office/powerpoint/2010/main" val="17081456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Page_1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060070"/>
              </p:ext>
            </p:extLst>
          </p:nvPr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 err="1">
                          <a:latin typeface="+mn-ea"/>
                          <a:ea typeface="+mn-ea"/>
                        </a:rPr>
                        <a:t>시보드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위젯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 err="1"/>
              <a:t>Page_DashBoard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0079EEA-3B81-4F7E-9140-3B46E3354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496" y="499335"/>
            <a:ext cx="5423731" cy="62881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4768A5C-3E74-44DB-BB2E-15E97F3A46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478" y="3755151"/>
            <a:ext cx="5033817" cy="2927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4195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ko-KR" altLang="en-US" sz="1000" dirty="0"/>
              <a:t>디렉터리 구조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텍스트를 입력하세요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E07B35A-2A27-4FB9-ADE0-7B1F44E6B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3158298"/>
              </p:ext>
            </p:extLst>
          </p:nvPr>
        </p:nvGraphicFramePr>
        <p:xfrm>
          <a:off x="482100" y="1733370"/>
          <a:ext cx="7804760" cy="1535166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2767359717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840832112"/>
                    </a:ext>
                  </a:extLst>
                </a:gridCol>
              </a:tblGrid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경로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36687304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app/page.tsx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메인 진입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87101048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layout.tsx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전역 레이아웃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73687703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app/dashboard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대시보드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전용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라우트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55367279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app/chart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통계/차트 페이지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89605587"/>
                  </a:ext>
                </a:extLst>
              </a:tr>
              <a:tr h="25586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app/</a:t>
                      </a:r>
                      <a:r>
                        <a:rPr lang="en-US" sz="1200" dirty="0" err="1">
                          <a:effectLst/>
                        </a:rPr>
                        <a:t>KakaoMap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지도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단독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페이지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85786101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D76D097-74FC-4DE2-89DF-673C1DCEB2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201595"/>
              </p:ext>
            </p:extLst>
          </p:nvPr>
        </p:nvGraphicFramePr>
        <p:xfrm>
          <a:off x="482100" y="4296427"/>
          <a:ext cx="7804760" cy="2176791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786770609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1439458863"/>
                    </a:ext>
                  </a:extLst>
                </a:gridCol>
              </a:tblGrid>
              <a:tr h="27641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컴포넌트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설명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40485741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KpiCard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단일 KPI 표시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327046112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KpiSection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KPI </a:t>
                      </a:r>
                      <a:r>
                        <a:rPr lang="en-US" sz="1200" dirty="0" err="1">
                          <a:effectLst/>
                        </a:rPr>
                        <a:t>그룹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51437694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ForecastPanel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기상·해양 정보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76665097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SearchBar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지역/어종 검색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6005995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SideBar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네비게이션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36244741"/>
                  </a:ext>
                </a:extLst>
              </a:tr>
              <a:tr h="316730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>
                          <a:effectLst/>
                        </a:rPr>
                        <a:t>Popup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위험</a:t>
                      </a:r>
                      <a:r>
                        <a:rPr lang="en-US" sz="1200" dirty="0">
                          <a:effectLst/>
                        </a:rPr>
                        <a:t>/</a:t>
                      </a:r>
                      <a:r>
                        <a:rPr lang="en-US" sz="1200" dirty="0" err="1">
                          <a:effectLst/>
                        </a:rPr>
                        <a:t>알림</a:t>
                      </a:r>
                      <a:r>
                        <a:rPr lang="en-US" sz="1200" dirty="0">
                          <a:effectLst/>
                        </a:rPr>
                        <a:t> UI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37548020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670F64-AA0F-4662-9637-116BB086CB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966270"/>
              </p:ext>
            </p:extLst>
          </p:nvPr>
        </p:nvGraphicFramePr>
        <p:xfrm>
          <a:off x="482100" y="3268539"/>
          <a:ext cx="7804760" cy="730142"/>
        </p:xfrm>
        <a:graphic>
          <a:graphicData uri="http://schemas.openxmlformats.org/drawingml/2006/table">
            <a:tbl>
              <a:tblPr firstRow="1" bandRow="1" bandCol="1">
                <a:tableStyleId>{5C22544A-7EE6-4342-B048-85BDC9FD1C3A}</a:tableStyleId>
              </a:tblPr>
              <a:tblGrid>
                <a:gridCol w="3902380">
                  <a:extLst>
                    <a:ext uri="{9D8B030D-6E8A-4147-A177-3AD203B41FA5}">
                      <a16:colId xmlns:a16="http://schemas.microsoft.com/office/drawing/2014/main" val="3838092686"/>
                    </a:ext>
                  </a:extLst>
                </a:gridCol>
                <a:gridCol w="3902380">
                  <a:extLst>
                    <a:ext uri="{9D8B030D-6E8A-4147-A177-3AD203B41FA5}">
                      <a16:colId xmlns:a16="http://schemas.microsoft.com/office/drawing/2014/main" val="3398780802"/>
                    </a:ext>
                  </a:extLst>
                </a:gridCol>
              </a:tblGrid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파일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>
                          <a:effectLst/>
                        </a:rPr>
                        <a:t>역할</a:t>
                      </a:r>
                      <a:endParaRPr lang="ko-KR" sz="120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/>
                </a:tc>
                <a:extLst>
                  <a:ext uri="{0D108BD9-81ED-4DB2-BD59-A6C34878D82A}">
                    <a16:rowId xmlns:a16="http://schemas.microsoft.com/office/drawing/2014/main" val="1181718506"/>
                  </a:ext>
                </a:extLst>
              </a:tr>
              <a:tr h="365071"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atomLocation.ts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spcBef>
                          <a:spcPts val="180"/>
                        </a:spcBef>
                        <a:spcAft>
                          <a:spcPts val="180"/>
                        </a:spcAft>
                      </a:pPr>
                      <a:r>
                        <a:rPr lang="en-US" sz="1200" dirty="0" err="1">
                          <a:effectLst/>
                        </a:rPr>
                        <a:t>선택</a:t>
                      </a:r>
                      <a:r>
                        <a:rPr lang="en-US" sz="1200" dirty="0">
                          <a:effectLst/>
                        </a:rPr>
                        <a:t> </a:t>
                      </a:r>
                      <a:r>
                        <a:rPr lang="en-US" sz="1200" dirty="0" err="1">
                          <a:effectLst/>
                        </a:rPr>
                        <a:t>위치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좌표</a:t>
                      </a:r>
                      <a:r>
                        <a:rPr lang="en-US" sz="1200" dirty="0">
                          <a:effectLst/>
                        </a:rPr>
                        <a:t> / </a:t>
                      </a:r>
                      <a:r>
                        <a:rPr lang="en-US" sz="1200" dirty="0" err="1">
                          <a:effectLst/>
                        </a:rPr>
                        <a:t>지역</a:t>
                      </a:r>
                      <a:endParaRPr lang="ko-KR" sz="1200" dirty="0">
                        <a:effectLst/>
                        <a:latin typeface="Aptos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09184116"/>
                  </a:ext>
                </a:extLst>
              </a:tr>
            </a:tbl>
          </a:graphicData>
        </a:graphic>
      </p:graphicFrame>
      <p:sp>
        <p:nvSpPr>
          <p:cNvPr id="6" name="Rectangle 1">
            <a:extLst>
              <a:ext uri="{FF2B5EF4-FFF2-40B4-BE49-F238E27FC236}">
                <a16:creationId xmlns:a16="http://schemas.microsoft.com/office/drawing/2014/main" id="{134A9033-1E41-4A55-BBB0-837AC5482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464" y="707406"/>
            <a:ext cx="1906291" cy="877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Next.js App Router</a:t>
            </a:r>
            <a:endParaRPr kumimoji="0" lang="en-US" altLang="ko-KR" sz="800" b="0" i="0" u="none" strike="noStrike" cap="none" normalizeH="0" baseline="0" dirty="0" bmk="app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err="1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라우트</a:t>
            </a:r>
            <a:r>
              <a:rPr kumimoji="0" lang="ko-KR" altLang="en-US" sz="1200" b="0" i="0" u="none" strike="noStrike" cap="none" normalizeH="0" baseline="0" dirty="0" bmk="app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 및 레이아웃 전담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28B5190-BE73-4830-84FE-756C4EDC8C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1185321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12696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</a:t>
            </a:r>
            <a:r>
              <a:rPr kumimoji="0" lang="en-US" altLang="ko-KR" sz="1100" b="0" i="0" u="none" strike="noStrike" cap="none" normalizeH="0" baseline="0" dirty="0" bmk="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components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순수 </a:t>
            </a:r>
            <a:r>
              <a:rPr kumimoji="0" lang="en-US" altLang="ko-KR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UI </a:t>
            </a: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컴포넌트</a:t>
            </a:r>
            <a:endParaRPr kumimoji="0" lang="ko-KR" altLang="en-US" sz="800" b="0" i="0" u="none" strike="noStrike" cap="none" normalizeH="0" baseline="0" dirty="0" bmk="components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 bmk="components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비즈니스 로직 최소화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5">
            <a:extLst>
              <a:ext uri="{FF2B5EF4-FFF2-40B4-BE49-F238E27FC236}">
                <a16:creationId xmlns:a16="http://schemas.microsoft.com/office/drawing/2014/main" id="{D3D74BA1-68AF-4174-B47C-4C7F0BF6E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6970" y="10032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100" b="0" i="0" u="none" strike="noStrike" cap="none" normalizeH="0" baseline="0" dirty="0">
                <a:ln>
                  <a:noFill/>
                </a:ln>
                <a:solidFill>
                  <a:srgbClr val="0F4761"/>
                </a:solidFill>
                <a:effectLst/>
                <a:latin typeface="Consolas" panose="020B0609020204030204" pitchFamily="49" charset="0"/>
                <a:ea typeface="맑은 고딕" panose="020B0503020000020004" pitchFamily="50" charset="-127"/>
                <a:cs typeface="Times New Roman" panose="02020603050405020304" pitchFamily="18" charset="0"/>
              </a:rPr>
              <a:t>/atoms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rgbClr val="0F4761"/>
              </a:solidFill>
              <a:effectLst/>
              <a:latin typeface="Aptos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전역 상태 관리 계층</a:t>
            </a:r>
            <a:endParaRPr kumimoji="0" lang="ko-KR" altLang="en-US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"/>
                <a:ea typeface="맑은 고딕" panose="020B0503020000020004" pitchFamily="50" charset="-127"/>
                <a:cs typeface="Times New Roman" panose="02020603050405020304" pitchFamily="18" charset="0"/>
              </a:rPr>
              <a:t>페이지 간 상태 공유</a:t>
            </a:r>
            <a:endParaRPr kumimoji="0" lang="ko-KR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07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283277" y="70517"/>
            <a:ext cx="3238847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signin</a:t>
            </a:r>
            <a:r>
              <a:rPr kumimoji="1" lang="en-US" altLang="ko-KR" sz="1000" dirty="0"/>
              <a:t> : </a:t>
            </a:r>
            <a:r>
              <a:rPr kumimoji="1" lang="ko-KR" altLang="en-US" sz="1000" dirty="0"/>
              <a:t>회원가입</a:t>
            </a:r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3729731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633954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가입에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필요한 항목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이메일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이름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350460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아이디 유효성 검사</a:t>
                      </a:r>
                      <a:br>
                        <a:rPr lang="en-US" altLang="ko-KR" sz="900" dirty="0">
                          <a:latin typeface="+mn-ea"/>
                          <a:ea typeface="+mn-ea"/>
                        </a:rPr>
                      </a:b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@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.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1629916"/>
                  </a:ext>
                </a:extLst>
              </a:tr>
              <a:tr h="633954">
                <a:tc vMerge="1">
                  <a:txBody>
                    <a:bodyPr/>
                    <a:lstStyle/>
                    <a:p>
                      <a:pPr algn="ctr"/>
                      <a:endParaRPr lang="x-none" altLang="en-US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x-none" altLang="en-US" sz="900" dirty="0"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 유효성 검사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숫자</a:t>
                      </a: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특수문자 포함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공백 없음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  <a:p>
                      <a:pPr marL="171450" indent="-171450">
                        <a:buFontTx/>
                        <a:buChar char="-"/>
                      </a:pPr>
                      <a:r>
                        <a:rPr lang="en-US" altLang="ko-KR" sz="900" dirty="0">
                          <a:latin typeface="+mn-ea"/>
                          <a:ea typeface="+mn-ea"/>
                        </a:rPr>
                        <a:t>8~20</a:t>
                      </a:r>
                      <a:r>
                        <a:rPr lang="ko-KR" altLang="en-US" sz="900" dirty="0">
                          <a:latin typeface="+mn-ea"/>
                          <a:ea typeface="+mn-ea"/>
                        </a:rPr>
                        <a:t>자</a:t>
                      </a:r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4672611"/>
                  </a:ext>
                </a:extLst>
              </a:tr>
              <a:tr h="541878"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  <a:t>Request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로 회원정보를 받아 데이터베이스에 저장</a:t>
                      </a:r>
                      <a:endParaRPr lang="en-US" altLang="ko-KR" sz="900" dirty="0">
                        <a:effectLst/>
                        <a:latin typeface="+mn-ea"/>
                        <a:ea typeface="+mn-ea"/>
                      </a:endParaRPr>
                    </a:p>
                    <a:p>
                      <a:pPr>
                        <a:lnSpc>
                          <a:spcPct val="115000"/>
                        </a:lnSpc>
                      </a:pP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회원정보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이메일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),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이름</a:t>
                      </a:r>
                      <a:r>
                        <a:rPr lang="en-US" altLang="ko-KR" sz="900" dirty="0">
                          <a:effectLst/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비밀번호</a:t>
                      </a: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9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9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9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altLang="en-US" sz="9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6" name="텍스트 개체 틀 2">
            <a:extLst>
              <a:ext uri="{FF2B5EF4-FFF2-40B4-BE49-F238E27FC236}">
                <a16:creationId xmlns:a16="http://schemas.microsoft.com/office/drawing/2014/main" id="{7422F50D-E9AA-460A-B70B-85E4E5AA935E}"/>
              </a:ext>
            </a:extLst>
          </p:cNvPr>
          <p:cNvSpPr txBox="1">
            <a:spLocks/>
          </p:cNvSpPr>
          <p:nvPr/>
        </p:nvSpPr>
        <p:spPr>
          <a:xfrm>
            <a:off x="5770703" y="70517"/>
            <a:ext cx="3117375" cy="237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관리</a:t>
            </a:r>
            <a:endParaRPr kumimoji="1" lang="x-none" altLang="en-US" sz="1000" dirty="0"/>
          </a:p>
        </p:txBody>
      </p:sp>
      <p:sp>
        <p:nvSpPr>
          <p:cNvPr id="7" name="텍스트 개체 틀 2">
            <a:extLst>
              <a:ext uri="{FF2B5EF4-FFF2-40B4-BE49-F238E27FC236}">
                <a16:creationId xmlns:a16="http://schemas.microsoft.com/office/drawing/2014/main" id="{43ED692A-EB5D-4471-9574-AA684563BB77}"/>
              </a:ext>
            </a:extLst>
          </p:cNvPr>
          <p:cNvSpPr txBox="1">
            <a:spLocks/>
          </p:cNvSpPr>
          <p:nvPr/>
        </p:nvSpPr>
        <p:spPr>
          <a:xfrm>
            <a:off x="10513808" y="61859"/>
            <a:ext cx="1550917" cy="246057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952" kern="1200">
                <a:solidFill>
                  <a:schemeClr val="tx1"/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en-US" altLang="en-US" sz="1000" dirty="0"/>
              <a:t>Users-01</a:t>
            </a:r>
            <a:endParaRPr kumimoji="1" lang="x-none" altLang="en-US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6D54FD4-9E6F-426C-813C-75CFFCAE9AB7}"/>
              </a:ext>
            </a:extLst>
          </p:cNvPr>
          <p:cNvSpPr txBox="1"/>
          <p:nvPr/>
        </p:nvSpPr>
        <p:spPr>
          <a:xfrm>
            <a:off x="3696417" y="324433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회원가입 화면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2F0CFBB-871E-4066-8445-3080F30F7E5E}"/>
              </a:ext>
            </a:extLst>
          </p:cNvPr>
          <p:cNvSpPr/>
          <p:nvPr/>
        </p:nvSpPr>
        <p:spPr>
          <a:xfrm>
            <a:off x="2660076" y="2342197"/>
            <a:ext cx="3724096" cy="221599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13800" b="1" cap="none" spc="0" dirty="0">
                <a:ln w="6600">
                  <a:solidFill>
                    <a:schemeClr val="accent2">
                      <a:alpha val="15000"/>
                    </a:schemeClr>
                  </a:solidFill>
                  <a:prstDash val="solid"/>
                </a:ln>
                <a:solidFill>
                  <a:srgbClr val="FFFFFF">
                    <a:alpha val="15000"/>
                  </a:srgbClr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예시</a:t>
            </a:r>
            <a:endParaRPr lang="en-US" altLang="ko-KR" sz="13800" b="1" cap="none" spc="0" dirty="0">
              <a:ln w="6600">
                <a:solidFill>
                  <a:schemeClr val="accent2">
                    <a:alpha val="15000"/>
                  </a:schemeClr>
                </a:solidFill>
                <a:prstDash val="solid"/>
              </a:ln>
              <a:solidFill>
                <a:srgbClr val="FFFFFF">
                  <a:alpha val="15000"/>
                </a:srgbClr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442520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/>
              <a:t>Main</a:t>
            </a:r>
            <a:r>
              <a:rPr kumimoji="1" lang="ko-KR" altLang="en-US" sz="1000" dirty="0"/>
              <a:t> </a:t>
            </a:r>
            <a:r>
              <a:rPr kumimoji="1" lang="en-US" altLang="ko-KR" sz="1000" dirty="0"/>
              <a:t>Page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대시보드 </a:t>
            </a:r>
            <a:r>
              <a:rPr kumimoji="1" lang="ko-KR" altLang="en-US" sz="1000" dirty="0" err="1"/>
              <a:t>첫페이지</a:t>
            </a:r>
            <a:endParaRPr kumimoji="1" lang="ko-KR" altLang="en-US" sz="1000" dirty="0"/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6682803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EB077E5-24F5-B650-BB16-72B37FFAD17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30037" y="70517"/>
            <a:ext cx="3192088" cy="2373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ko-KR" sz="1000" dirty="0" err="1"/>
              <a:t>DashBoard</a:t>
            </a:r>
            <a:r>
              <a:rPr kumimoji="1" lang="en-US" altLang="ko-KR" sz="1000" dirty="0"/>
              <a:t>/Map</a:t>
            </a:r>
            <a:endParaRPr kumimoji="1" lang="ko-KR" altLang="en-US" sz="1000" dirty="0"/>
          </a:p>
        </p:txBody>
      </p:sp>
      <p:graphicFrame>
        <p:nvGraphicFramePr>
          <p:cNvPr id="9" name="표 9">
            <a:extLst>
              <a:ext uri="{FF2B5EF4-FFF2-40B4-BE49-F238E27FC236}">
                <a16:creationId xmlns:a16="http://schemas.microsoft.com/office/drawing/2014/main" id="{03200282-D5E2-DA70-1722-5FB99AE80BE0}"/>
              </a:ext>
            </a:extLst>
          </p:cNvPr>
          <p:cNvGraphicFramePr>
            <a:graphicFrameLocks noGrp="1"/>
          </p:cNvGraphicFramePr>
          <p:nvPr/>
        </p:nvGraphicFramePr>
        <p:xfrm>
          <a:off x="8962892" y="405819"/>
          <a:ext cx="3101833" cy="4599113"/>
        </p:xfrm>
        <a:graphic>
          <a:graphicData uri="http://schemas.openxmlformats.org/drawingml/2006/table">
            <a:tbl>
              <a:tblPr firstRow="1" bandRow="1"/>
              <a:tblGrid>
                <a:gridCol w="311543">
                  <a:extLst>
                    <a:ext uri="{9D8B030D-6E8A-4147-A177-3AD203B41FA5}">
                      <a16:colId xmlns:a16="http://schemas.microsoft.com/office/drawing/2014/main" val="1927552287"/>
                    </a:ext>
                  </a:extLst>
                </a:gridCol>
                <a:gridCol w="311543">
                  <a:extLst>
                    <a:ext uri="{9D8B030D-6E8A-4147-A177-3AD203B41FA5}">
                      <a16:colId xmlns:a16="http://schemas.microsoft.com/office/drawing/2014/main" val="1382944221"/>
                    </a:ext>
                  </a:extLst>
                </a:gridCol>
                <a:gridCol w="2478747">
                  <a:extLst>
                    <a:ext uri="{9D8B030D-6E8A-4147-A177-3AD203B41FA5}">
                      <a16:colId xmlns:a16="http://schemas.microsoft.com/office/drawing/2014/main" val="4030367316"/>
                    </a:ext>
                  </a:extLst>
                </a:gridCol>
              </a:tblGrid>
              <a:tr h="320045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기능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상세 설명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altLang="ko-KR" sz="105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8904460"/>
                  </a:ext>
                </a:extLst>
              </a:tr>
              <a:tr h="267868">
                <a:tc gridSpan="3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x-none" altLang="en-US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dirty="0">
                          <a:latin typeface="+mn-ea"/>
                          <a:ea typeface="+mn-ea"/>
                        </a:rPr>
                        <a:t>서비스 이용을 위한 회원 가입 </a:t>
                      </a:r>
                      <a:endParaRPr lang="x-none" altLang="en-US" sz="10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6258809"/>
                  </a:ext>
                </a:extLst>
              </a:tr>
              <a:tr h="539456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FE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8339380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323923"/>
                  </a:ext>
                </a:extLst>
              </a:tr>
              <a:tr h="53945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altLang="ko-KR" sz="90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6046904"/>
                  </a:ext>
                </a:extLst>
              </a:tr>
              <a:tr h="470420">
                <a:tc rowSpan="3">
                  <a:txBody>
                    <a:bodyPr/>
                    <a:lstStyle/>
                    <a:p>
                      <a:pPr algn="ctr"/>
                      <a:r>
                        <a:rPr lang="en-US" altLang="x-none" sz="9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BE</a:t>
                      </a:r>
                      <a:endParaRPr lang="x-none" altLang="en-US" sz="9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x-none" sz="900" b="0" dirty="0">
                          <a:latin typeface="+mn-ea"/>
                          <a:ea typeface="+mn-ea"/>
                        </a:rPr>
                        <a:t>1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936203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2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6828157"/>
                  </a:ext>
                </a:extLst>
              </a:tr>
              <a:tr h="4704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en-US" sz="900" b="0" dirty="0">
                          <a:latin typeface="+mn-ea"/>
                          <a:ea typeface="+mn-ea"/>
                        </a:rPr>
                        <a:t>3</a:t>
                      </a:r>
                      <a:endParaRPr lang="x-none" altLang="en-US" sz="900" b="0" dirty="0"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215707"/>
                  </a:ext>
                </a:extLst>
              </a:tr>
              <a:tr h="301351">
                <a:tc gridSpan="3"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9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9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x-none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인터페이스</a:t>
                      </a:r>
                      <a:r>
                        <a:rPr lang="ko-KR" altLang="en-US" sz="10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요구사항</a:t>
                      </a:r>
                      <a:endParaRPr lang="x-none" altLang="en-US" sz="10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Tx/>
                        <a:buChar char="-"/>
                      </a:pPr>
                      <a:endParaRPr lang="en-US" altLang="ko-KR" sz="110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164499"/>
                  </a:ext>
                </a:extLst>
              </a:tr>
              <a:tr h="37887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이메일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아이디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),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이름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</a:t>
                      </a:r>
                      <a:r>
                        <a:rPr lang="en-GB" sz="1000" dirty="0"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비밀번호 확인 입력</a:t>
                      </a:r>
                      <a:r>
                        <a:rPr lang="ko-KR" altLang="en-US" sz="1000" dirty="0">
                          <a:effectLst/>
                          <a:latin typeface="+mn-ea"/>
                          <a:ea typeface="+mn-ea"/>
                        </a:rPr>
                        <a:t> 후</a:t>
                      </a:r>
                      <a:br>
                        <a:rPr lang="en-US" altLang="x-none" sz="1000" dirty="0">
                          <a:effectLst/>
                          <a:latin typeface="+mn-ea"/>
                          <a:ea typeface="+mn-ea"/>
                        </a:rPr>
                      </a:b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회원 가입 버튼 클릭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1802943"/>
                  </a:ext>
                </a:extLst>
              </a:tr>
              <a:tr h="301351">
                <a:tc>
                  <a:txBody>
                    <a:bodyPr/>
                    <a:lstStyle/>
                    <a:p>
                      <a:pPr algn="ctr"/>
                      <a:r>
                        <a:rPr lang="x-none" altLang="en-US" sz="9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출력</a:t>
                      </a:r>
                    </a:p>
                  </a:txBody>
                  <a:tcPr marL="31173" marR="31173" marT="31173" marB="31173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x-none" altLang="en-US" sz="900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31173" marR="31173" marT="31173" marB="31173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lang="x-none" sz="1000" dirty="0">
                          <a:effectLst/>
                          <a:latin typeface="+mn-ea"/>
                          <a:ea typeface="+mn-ea"/>
                        </a:rPr>
                        <a:t>로그인 페이지</a:t>
                      </a:r>
                    </a:p>
                  </a:txBody>
                  <a:tcPr marL="36000" marR="36000" marT="36000" marB="36000" anchor="ctr">
                    <a:lnL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629137"/>
                  </a:ext>
                </a:extLst>
              </a:tr>
            </a:tbl>
          </a:graphicData>
        </a:graphic>
      </p:graphicFrame>
      <p:sp>
        <p:nvSpPr>
          <p:cNvPr id="8" name="텍스트 개체 틀 1">
            <a:extLst>
              <a:ext uri="{FF2B5EF4-FFF2-40B4-BE49-F238E27FC236}">
                <a16:creationId xmlns:a16="http://schemas.microsoft.com/office/drawing/2014/main" id="{55B3F925-B9AA-49F8-A683-8DD1DD9D6477}"/>
              </a:ext>
            </a:extLst>
          </p:cNvPr>
          <p:cNvSpPr txBox="1">
            <a:spLocks/>
          </p:cNvSpPr>
          <p:nvPr/>
        </p:nvSpPr>
        <p:spPr>
          <a:xfrm>
            <a:off x="5770804" y="70517"/>
            <a:ext cx="3098876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어종 및 낚시 포인트 지요 세부 정보 </a:t>
            </a:r>
          </a:p>
        </p:txBody>
      </p:sp>
      <p:sp>
        <p:nvSpPr>
          <p:cNvPr id="10" name="텍스트 개체 틀 1">
            <a:extLst>
              <a:ext uri="{FF2B5EF4-FFF2-40B4-BE49-F238E27FC236}">
                <a16:creationId xmlns:a16="http://schemas.microsoft.com/office/drawing/2014/main" id="{0FF531F6-4ABE-43DA-8C9B-79D05E9FD9FB}"/>
              </a:ext>
            </a:extLst>
          </p:cNvPr>
          <p:cNvSpPr txBox="1">
            <a:spLocks/>
          </p:cNvSpPr>
          <p:nvPr/>
        </p:nvSpPr>
        <p:spPr>
          <a:xfrm>
            <a:off x="10523913" y="70517"/>
            <a:ext cx="1540811" cy="2373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kumimoji="1" lang="ko-KR" altLang="en-US" sz="1000" dirty="0"/>
              <a:t>화면 </a:t>
            </a:r>
            <a:r>
              <a:rPr kumimoji="1" lang="en-US" altLang="ko-KR" sz="1000" dirty="0"/>
              <a:t>ID</a:t>
            </a:r>
            <a:endParaRPr kumimoji="1" lang="ko-KR" altLang="en-US" sz="10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0D07795-FA0A-4D5D-B004-71A10FBD37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461047" y="2504761"/>
            <a:ext cx="4379689" cy="3314342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06033395-D715-454C-A852-E8604D2C95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333" y="2442575"/>
            <a:ext cx="2955714" cy="33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977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REST</a:t>
            </a:r>
            <a:r>
              <a:rPr lang="ko-KR" altLang="en-US" sz="4400" dirty="0"/>
              <a:t> </a:t>
            </a:r>
            <a:r>
              <a:rPr lang="en-US" altLang="ko-KR" sz="4400" dirty="0"/>
              <a:t>API </a:t>
            </a:r>
            <a:r>
              <a:rPr lang="ko-KR" altLang="en-US" sz="4400" dirty="0"/>
              <a:t>명세</a:t>
            </a:r>
          </a:p>
        </p:txBody>
      </p:sp>
    </p:spTree>
    <p:extLst>
      <p:ext uri="{BB962C8B-B14F-4D97-AF65-F5344CB8AC3E}">
        <p14:creationId xmlns:p14="http://schemas.microsoft.com/office/powerpoint/2010/main" val="2891650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654950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02277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021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6398096"/>
              </p:ext>
            </p:extLst>
          </p:nvPr>
        </p:nvGraphicFramePr>
        <p:xfrm>
          <a:off x="1098745" y="1813175"/>
          <a:ext cx="10515601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구성 내용 협의 필요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즐겨찾는</a:t>
                      </a:r>
                      <a:r>
                        <a:rPr lang="ko-KR" altLang="en-US" sz="1200" dirty="0"/>
                        <a:t> 위치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별 정보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1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21200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586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명세 목록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8180291"/>
              </p:ext>
            </p:extLst>
          </p:nvPr>
        </p:nvGraphicFramePr>
        <p:xfrm>
          <a:off x="1098745" y="1813175"/>
          <a:ext cx="10515601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3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4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5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6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7" action="ppaction://hlinksldjump"/>
                        </a:rPr>
                        <a:t>28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memberlist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이용자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8" action="ppaction://hlinksldjump"/>
                        </a:rPr>
                        <a:t>29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modifyUserEnabled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이용자의 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039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9" action="ppaction://hlinksldjump"/>
                        </a:rPr>
                        <a:t>30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fetchLogList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관리페이지에서 </a:t>
                      </a:r>
                      <a:r>
                        <a:rPr lang="ko-KR" altLang="en-US" sz="1200" dirty="0" err="1"/>
                        <a:t>데이터패치</a:t>
                      </a:r>
                      <a:r>
                        <a:rPr lang="ko-KR" altLang="en-US" sz="1200" dirty="0"/>
                        <a:t> 로그 리스트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오류확인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9296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10" action="ppaction://hlinksldjump"/>
                        </a:rPr>
                        <a:t>31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추천 지점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478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38576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31075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856982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ID/</a:t>
                      </a:r>
                      <a:r>
                        <a:rPr lang="ko-KR" altLang="en-US" sz="1200" dirty="0"/>
                        <a:t>비밀번호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8875872"/>
              </p:ext>
            </p:extLst>
          </p:nvPr>
        </p:nvGraphicFramePr>
        <p:xfrm>
          <a:off x="1098744" y="2677343"/>
          <a:ext cx="10515602" cy="2877637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329284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3611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api/v1/loginid?userid=administrator</a:t>
                      </a:r>
                      <a:r>
                        <a:rPr lang="en-US" altLang="ko-KR" sz="1200" dirty="0"/>
                        <a:t>&amp;password=Abcd1234!@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password: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'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 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'password' :password }),});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67398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8794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77288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구글계정을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53618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25474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/>
                        <a:t>구글계정정보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api/v1/logingoogle?google=google*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>
                          <a:hlinkClick r:id="rId3"/>
                        </a:rPr>
                        <a:t>google*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822348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</a:t>
            </a:r>
            <a:r>
              <a:rPr lang="en-US" altLang="ko-KR" dirty="0"/>
              <a:t>(</a:t>
            </a:r>
            <a:r>
              <a:rPr lang="en-US" altLang="ko-KR" sz="4400" dirty="0" err="1"/>
              <a:t>loginnaver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60556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</a:t>
                      </a:r>
                      <a:r>
                        <a:rPr lang="ko-KR" altLang="en-US" sz="1200" dirty="0" err="1"/>
                        <a:t>네이버계정을</a:t>
                      </a:r>
                      <a:r>
                        <a:rPr lang="ko-KR" altLang="en-US" sz="1200" dirty="0"/>
                        <a:t>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29875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api/v1/loginnaver?naver=naver*</a:t>
                      </a:r>
                      <a:r>
                        <a:rPr lang="ko-KR" altLang="en-US" sz="1200" dirty="0"/>
                        <a:t>이름*이메일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4"/>
                        </a:rPr>
                        <a:t>naver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이름*이메일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92101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loginkakao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50814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loginkakao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등록한 카카오계정을 통한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3319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api/v1/loginkakao?kakao=kakao*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loginkakao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en-US" altLang="ko-KR" sz="1200" dirty="0" err="1">
                          <a:hlinkClick r:id="rId4"/>
                        </a:rPr>
                        <a:t>kakao</a:t>
                      </a:r>
                      <a:r>
                        <a:rPr lang="en-US" altLang="ko-KR" sz="1200" dirty="0">
                          <a:hlinkClick r:id="rId4"/>
                        </a:rPr>
                        <a:t>*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*undefined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14385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{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 =&gt;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””, Username : ””, Email : “”, Role : “”, enabled</a:t>
                      </a:r>
                      <a:r>
                        <a:rPr lang="en-US" altLang="ko-KR" sz="1200" b="0" baseline="0" dirty="0"/>
                        <a:t> : “”</a:t>
                      </a:r>
                      <a:r>
                        <a:rPr lang="en-US" altLang="ko-KR" sz="1200" b="0" dirty="0"/>
                        <a:t>}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validateID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6856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validateID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ID </a:t>
                      </a:r>
                      <a:r>
                        <a:rPr lang="ko-KR" altLang="en-US" sz="1200" dirty="0"/>
                        <a:t>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387073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join/validateID?userid=</a:t>
                      </a:r>
                      <a:r>
                        <a:rPr lang="ko-KR" altLang="en-US" sz="1200" dirty="0" err="1"/>
                        <a:t>신규아이디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신규아이디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11887335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validateEmail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038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validateEmail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 err="1"/>
                        <a:t>이메일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096624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?email=</a:t>
                      </a:r>
                      <a:r>
                        <a:rPr lang="ko-KR" altLang="en-US" sz="1200" b="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join/validateEmail?email=</a:t>
                      </a:r>
                      <a:r>
                        <a:rPr lang="ko-KR" altLang="en-US" sz="1200" dirty="0" err="1"/>
                        <a:t>신규이메일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신규이메일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validatgeEmail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74404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validategoogle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859654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validategoogle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구글계정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033459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?google=</a:t>
                      </a:r>
                      <a:r>
                        <a:rPr lang="ko-KR" altLang="en-US" sz="1200" b="0" dirty="0" err="1"/>
                        <a:t>신규구글계정정보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</a:t>
                      </a:r>
                      <a:r>
                        <a:rPr lang="en-US" altLang="ko-KR" sz="1200" dirty="0"/>
                        <a:t>join/validategoogle?google=</a:t>
                      </a:r>
                      <a:r>
                        <a:rPr lang="ko-KR" altLang="en-US" sz="1200" dirty="0" err="1"/>
                        <a:t>신규구글계정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신규구글계정정보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validatgegoogle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신규구글계정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858511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validatenaver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3514815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validatenaver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네이버계정</a:t>
                      </a:r>
                      <a:r>
                        <a:rPr lang="ko-KR" altLang="en-US" sz="1200" dirty="0"/>
                        <a:t>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3933808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신규네이버계정정보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api/v1/join/validatenaver?naver=</a:t>
                      </a:r>
                      <a:r>
                        <a:rPr lang="ko-KR" altLang="en-US" sz="1200" dirty="0" err="1"/>
                        <a:t>신규네이버계정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 err="1"/>
                        <a:t>신규네이버계정정보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신규네이버계정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28325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validatekakao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1798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validatekakao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카카오계정 중복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269605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 err="1"/>
                        <a:t>신규카카오계정정보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api/v1/join/validatekakao?kakao=</a:t>
                      </a:r>
                      <a:r>
                        <a:rPr lang="ko-KR" altLang="en-US" sz="1200" dirty="0" err="1"/>
                        <a:t>신규카카오계정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text : </a:t>
                      </a:r>
                      <a:r>
                        <a:rPr lang="ko-KR" altLang="en-US" sz="1200" b="0" dirty="0"/>
                        <a:t>신규카카오계정정보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validatgekakao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신규카카오계정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040891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(join/</a:t>
            </a:r>
            <a:r>
              <a:rPr lang="en-US" altLang="ko-KR" sz="4400" dirty="0" err="1"/>
              <a:t>joinUser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0870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joinUser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4419122"/>
              </p:ext>
            </p:extLst>
          </p:nvPr>
        </p:nvGraphicFramePr>
        <p:xfrm>
          <a:off x="1098744" y="2677343"/>
          <a:ext cx="10515602" cy="39199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&amp;password=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&amp;username=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&amp;email=</a:t>
                      </a:r>
                      <a:r>
                        <a:rPr lang="ko-KR" altLang="en-US" sz="1200" b="0" dirty="0"/>
                        <a:t>이메일</a:t>
                      </a:r>
                      <a:r>
                        <a:rPr lang="en-US" altLang="ko-KR" sz="1200" b="0" dirty="0"/>
                        <a:t>&amp;google=</a:t>
                      </a:r>
                      <a:r>
                        <a:rPr lang="ko-KR" altLang="en-US" sz="1200" b="0" dirty="0"/>
                        <a:t>구글계정정보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네이버계정정보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카카오계정정보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api/v1/join/joinUser?userid=</a:t>
                      </a:r>
                      <a:r>
                        <a:rPr lang="ko-KR" altLang="en-US" sz="1200" dirty="0"/>
                        <a:t>아이디</a:t>
                      </a:r>
                      <a:r>
                        <a:rPr lang="en-US" altLang="ko-KR" sz="1200" dirty="0"/>
                        <a:t>&amp;password=</a:t>
                      </a:r>
                      <a:r>
                        <a:rPr lang="ko-KR" altLang="en-US" sz="1200" dirty="0"/>
                        <a:t>비밀번호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&amp;username=</a:t>
                      </a:r>
                      <a:r>
                        <a:rPr lang="ko-KR" altLang="en-US" sz="1200" dirty="0"/>
                        <a:t>이름</a:t>
                      </a:r>
                      <a:r>
                        <a:rPr lang="en-US" altLang="ko-KR" sz="1200" dirty="0"/>
                        <a:t>&amp;email=</a:t>
                      </a:r>
                      <a:r>
                        <a:rPr lang="ko-KR" altLang="en-US" sz="1200" dirty="0"/>
                        <a:t>이메일</a:t>
                      </a:r>
                      <a:r>
                        <a:rPr lang="en-US" altLang="ko-KR" sz="1200" dirty="0"/>
                        <a:t>&amp;google=</a:t>
                      </a:r>
                      <a:r>
                        <a:rPr lang="ko-KR" altLang="en-US" sz="1200" dirty="0"/>
                        <a:t>구글계정정보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naver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네이버계정정보</a:t>
                      </a:r>
                      <a:br>
                        <a:rPr lang="en-US" altLang="ko-KR" sz="1200" dirty="0"/>
                      </a:b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kakao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카카오계정정보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userid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아이디</a:t>
                      </a:r>
                      <a:r>
                        <a:rPr lang="en-US" altLang="ko-KR" sz="1200" b="0" dirty="0"/>
                        <a:t>, password : </a:t>
                      </a:r>
                      <a:r>
                        <a:rPr lang="ko-KR" altLang="en-US" sz="1200" b="0" dirty="0"/>
                        <a:t>비밀번호</a:t>
                      </a:r>
                      <a:r>
                        <a:rPr lang="en-US" altLang="ko-KR" sz="1200" b="0" dirty="0"/>
                        <a:t>, username : 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email : </a:t>
                      </a:r>
                      <a:r>
                        <a:rPr lang="ko-KR" altLang="en-US" sz="1200" b="0" dirty="0" err="1"/>
                        <a:t>이메일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 err="1"/>
                        <a:t>google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구글계정정보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naver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 err="1"/>
                        <a:t>네이버계정정보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kakao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카카오계정정보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joinUser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userid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아이디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‘password’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‘username’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‘email’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이메일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‘google’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구글계정정보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naver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네이버계정정보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kakao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카카오계정정보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join/</a:t>
            </a:r>
            <a:r>
              <a:rPr lang="en-US" altLang="ko-KR" sz="4400" dirty="0" err="1"/>
              <a:t>modifyUser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84082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/v1/join/</a:t>
                      </a:r>
                      <a:r>
                        <a:rPr lang="en-US" altLang="ko-KR" sz="1200" dirty="0" err="1"/>
                        <a:t>modifyUser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 정보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4457643"/>
              </p:ext>
            </p:extLst>
          </p:nvPr>
        </p:nvGraphicFramePr>
        <p:xfrm>
          <a:off x="1098744" y="2677343"/>
          <a:ext cx="10515602" cy="364563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69264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신규이름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api/v1/join/modifyUser?currentPassword=</a:t>
                      </a:r>
                      <a:r>
                        <a:rPr lang="ko-KR" altLang="en-US" sz="1200" dirty="0"/>
                        <a:t>현재비밀번호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newPassword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신규비밀번호</a:t>
                      </a:r>
                      <a:r>
                        <a:rPr lang="en-US" altLang="ko-KR" sz="1200" dirty="0"/>
                        <a:t>&amp;</a:t>
                      </a:r>
                      <a:r>
                        <a:rPr lang="en-US" altLang="ko-KR" sz="1200" dirty="0" err="1"/>
                        <a:t>newUsername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신규이름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5528320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</a:t>
                      </a:r>
                      <a:r>
                        <a:rPr lang="en-US" altLang="ko-KR" sz="1200" b="0" dirty="0" err="1"/>
                        <a:t>currentPassword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현재비밀번호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newPassword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신규비밀번호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newUsername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신규이름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/v1/join/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currentPassword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현재비밀번호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newPassword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신규비밀번호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newUsername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신규이름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8814911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46960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(area)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793244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권역구분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3639524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api/v1/area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645367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area_no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area_name</a:t>
                      </a:r>
                      <a:r>
                        <a:rPr lang="en-US" altLang="ko-KR" sz="1200" b="0" dirty="0"/>
                        <a:t>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center_lat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center_lng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표시중심좌표</a:t>
                      </a:r>
                      <a:r>
                        <a:rPr lang="en-US" altLang="ko-KR" sz="1200" b="0" baseline="0" dirty="0"/>
                        <a:t>, radius : </a:t>
                      </a:r>
                      <a:r>
                        <a:rPr lang="ko-KR" altLang="en-US" sz="1200" b="0" baseline="0" dirty="0"/>
                        <a:t>표시원반지름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fillcolor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표시색상</a:t>
                      </a:r>
                      <a:r>
                        <a:rPr lang="en-US" altLang="ko-KR" sz="1200" b="0" baseline="0" dirty="0"/>
                        <a:t>, level : </a:t>
                      </a:r>
                      <a:r>
                        <a:rPr lang="ko-KR" altLang="en-US" sz="1200" b="0" baseline="0" dirty="0" err="1"/>
                        <a:t>선택시화면확대비율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error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703783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전체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49825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65288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79203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8817598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 err="1"/>
                        <a:t>Respnse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location/area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44663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/v1/location/area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권역별</a:t>
                      </a:r>
                      <a:r>
                        <a:rPr lang="ko-KR" altLang="en-US" sz="1200" dirty="0"/>
                        <a:t> 위치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40808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/>
                        <a:t>내용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?area=</a:t>
                      </a:r>
                      <a:r>
                        <a:rPr lang="ko-KR" altLang="en-US" sz="1200" b="0" dirty="0"/>
                        <a:t>권역고유번호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api/v1/location</a:t>
                      </a:r>
                      <a:r>
                        <a:rPr lang="en-US" altLang="ko-KR" sz="1200" b="0" dirty="0"/>
                        <a:t>/area?area=1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 number : </a:t>
                      </a:r>
                      <a:r>
                        <a:rPr lang="ko-KR" altLang="en-US" sz="1200" b="0" dirty="0"/>
                        <a:t>권역고유번호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/v1/location/area',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1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0710123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, name :</a:t>
                      </a:r>
                      <a:r>
                        <a:rPr lang="en-US" altLang="ko-KR" sz="1200" b="0" baseline="0" dirty="0"/>
                        <a:t> </a:t>
                      </a:r>
                      <a:r>
                        <a:rPr lang="ko-KR" altLang="en-US" sz="1200" b="0" baseline="0" dirty="0" err="1"/>
                        <a:t>위치명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lat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lot : </a:t>
                      </a:r>
                      <a:r>
                        <a:rPr lang="ko-KR" altLang="en-US" sz="1200" b="0" baseline="0" dirty="0"/>
                        <a:t>좌표</a:t>
                      </a:r>
                      <a:r>
                        <a:rPr lang="en-US" altLang="ko-KR" sz="1200" b="0" baseline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baseline="0" dirty="0" err="1"/>
                        <a:t>area_no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권역고유번호</a:t>
                      </a:r>
                      <a:r>
                        <a:rPr lang="en-US" altLang="ko-KR" sz="1200" b="0" baseline="0" dirty="0"/>
                        <a:t>, </a:t>
                      </a:r>
                      <a:r>
                        <a:rPr lang="en-US" altLang="ko-KR" sz="1200" b="0" baseline="0" dirty="0" err="1"/>
                        <a:t>area_name</a:t>
                      </a:r>
                      <a:r>
                        <a:rPr lang="en-US" altLang="ko-KR" sz="1200" b="0" baseline="0" dirty="0"/>
                        <a:t> : </a:t>
                      </a:r>
                      <a:r>
                        <a:rPr lang="ko-KR" altLang="en-US" sz="1200" b="0" baseline="0" dirty="0"/>
                        <a:t>권역이름</a:t>
                      </a:r>
                      <a:r>
                        <a:rPr lang="en-US" altLang="ko-KR" sz="1200" b="0" baseline="0" dirty="0"/>
                        <a:t>}….</a:t>
                      </a:r>
                      <a:r>
                        <a:rPr lang="en-US" altLang="ko-KR" sz="1200" b="0" dirty="0"/>
                        <a:t>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location/select)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928629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/v1/location/select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선택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공공데이터의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주일간의 예측치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277147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/select?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/v1/location/select',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95726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569399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[{</a:t>
                      </a:r>
                      <a:r>
                        <a:rPr lang="en-US" altLang="ko-KR" sz="1200" b="0" dirty="0" err="1"/>
                        <a:t>favorite_no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즐겨찾기 고유번호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689426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location/favorite/add)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04089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/v1/location/favorite/add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추가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2211701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/favorite/add?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/v1/location/favorite/add',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06037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location/favorite/remove)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7057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/v1/location/favorite/remove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즐겨찾기 제거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294013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188259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api/v1/location</a:t>
                      </a:r>
                      <a:r>
                        <a:rPr lang="en-US" altLang="ko-KR" sz="1200" b="0" dirty="0">
                          <a:hlinkClick r:id="rId3"/>
                        </a:rPr>
                        <a:t>/favorite/remove?</a:t>
                      </a:r>
                      <a:r>
                        <a:rPr lang="en-US" altLang="ko-KR" sz="1200" b="0" dirty="0"/>
                        <a:t>location_no=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</a:t>
                      </a:r>
                      <a:r>
                        <a:rPr lang="en-US" altLang="ko-KR" sz="1200" b="0" baseline="0" dirty="0"/>
                        <a:t>number : </a:t>
                      </a:r>
                      <a:r>
                        <a:rPr lang="ko-KR" altLang="en-US" sz="1200" b="0" baseline="0" dirty="0"/>
                        <a:t>위치 고유번호</a:t>
                      </a:r>
                      <a:r>
                        <a:rPr lang="en-US" altLang="ko-KR" sz="1200" b="0" baseline="0" dirty="0"/>
                        <a:t>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/v1/location/favorite/remove',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250379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 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40709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fish/name)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6040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19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/v1/fish/name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어종이름</a:t>
                      </a:r>
                      <a:r>
                        <a:rPr lang="ko-KR" altLang="en-US" sz="1200" baseline="0" dirty="0"/>
                        <a:t> 검색을 통한</a:t>
                      </a:r>
                      <a:r>
                        <a:rPr lang="ko-KR" altLang="en-US" sz="1200" dirty="0"/>
                        <a:t>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77964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12950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api/v1/fish/name</a:t>
                      </a:r>
                      <a:r>
                        <a:rPr lang="en-US" altLang="ko-KR" sz="1200" b="0" dirty="0">
                          <a:hlinkClick r:id="rId3"/>
                        </a:rPr>
                        <a:t>?name=</a:t>
                      </a:r>
                      <a:r>
                        <a:rPr lang="ko-KR" altLang="en-US" sz="1200" b="0" dirty="0"/>
                        <a:t>검색할 물고기 이름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{text : </a:t>
                      </a:r>
                      <a:r>
                        <a:rPr lang="ko-KR" altLang="en-US" sz="1200" b="0" dirty="0"/>
                        <a:t>검색할 물고기 이름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/v1/fish/name',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검색할 물고기 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6335230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fish/location)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61527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/v1/fish/location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718710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25532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api/v1/fish/location</a:t>
                      </a:r>
                      <a:r>
                        <a:rPr lang="en-US" altLang="ko-KR" sz="1200" b="0" dirty="0">
                          <a:hlinkClick r:id="rId3"/>
                        </a:rPr>
                        <a:t>?location=</a:t>
                      </a:r>
                      <a:r>
                        <a:rPr lang="ko-KR" altLang="en-US" sz="1200" b="0" dirty="0"/>
                        <a:t>위치 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{number 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/v1/fish/location',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위치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57815567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75388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fish/weather)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889358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/v1/fish/weather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날짜 별 낚시가능어종 정보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8765743"/>
              </p:ext>
            </p:extLst>
          </p:nvPr>
        </p:nvGraphicFramePr>
        <p:xfrm>
          <a:off x="1098744" y="2677343"/>
          <a:ext cx="10515602" cy="30055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135471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location_no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위치고유번호</a:t>
                      </a:r>
                      <a:r>
                        <a:rPr lang="en-US" altLang="ko-KR" sz="1200" b="0" dirty="0"/>
                        <a:t>&amp;weather=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21896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api/v1/fish/weather</a:t>
                      </a:r>
                      <a:r>
                        <a:rPr lang="en-US" altLang="ko-KR" sz="1200" b="0" dirty="0">
                          <a:hlinkClick r:id="rId3"/>
                        </a:rPr>
                        <a:t>?location_no=</a:t>
                      </a:r>
                      <a:r>
                        <a:rPr lang="ko-KR" altLang="en-US" sz="1200" b="0" dirty="0">
                          <a:hlinkClick r:id="rId3"/>
                        </a:rPr>
                        <a:t>위치고유번호</a:t>
                      </a:r>
                      <a:r>
                        <a:rPr lang="en-US" altLang="ko-KR" sz="1200" b="0" dirty="0">
                          <a:hlinkClick r:id="rId3"/>
                        </a:rPr>
                        <a:t>&amp;weather=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{number: </a:t>
                      </a:r>
                      <a:r>
                        <a:rPr lang="ko-KR" altLang="en-US" sz="1200" b="0" dirty="0"/>
                        <a:t>위치 고유번호</a:t>
                      </a:r>
                      <a:r>
                        <a:rPr lang="en-US" altLang="ko-KR" sz="1200" b="0" dirty="0"/>
                        <a:t>,text : 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en-US" altLang="ko-KR" sz="1200" b="0" dirty="0" err="1"/>
                        <a:t>yyyy</a:t>
                      </a:r>
                      <a:r>
                        <a:rPr lang="en-US" altLang="ko-KR" sz="1200" b="0" dirty="0"/>
                        <a:t>-MM-dd)}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/v1/fish/weather',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날짜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yyyy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-MM-dd) 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6368179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 err="1"/>
              <a:t>fishlist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45680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</a:t>
                      </a:r>
                      <a:r>
                        <a:rPr lang="en-US" altLang="ko-KR" sz="1200" dirty="0" err="1"/>
                        <a:t>fishlist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낚시 가능한 전체 어종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810854"/>
              </p:ext>
            </p:extLst>
          </p:nvPr>
        </p:nvGraphicFramePr>
        <p:xfrm>
          <a:off x="1098744" y="2677343"/>
          <a:ext cx="10515602" cy="26397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</a:t>
                      </a:r>
                      <a:r>
                        <a:rPr lang="en-US" altLang="ko-KR" sz="1200" dirty="0"/>
                        <a:t>list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:[{name : </a:t>
                      </a:r>
                      <a:r>
                        <a:rPr lang="ko-KR" altLang="en-US" sz="1200" b="0" dirty="0"/>
                        <a:t>물고기 이름</a:t>
                      </a:r>
                      <a:r>
                        <a:rPr lang="en-US" altLang="ko-KR" sz="1200" b="0" dirty="0"/>
                        <a:t>, detail : </a:t>
                      </a:r>
                      <a:r>
                        <a:rPr lang="ko-KR" altLang="en-US" sz="1200" b="0" dirty="0"/>
                        <a:t>간단설명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 : </a:t>
                      </a:r>
                      <a:r>
                        <a:rPr lang="ko-KR" altLang="en-US" sz="1200" b="0" dirty="0"/>
                        <a:t>이미지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62039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weather/chart)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698892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/v1/weather/chart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선택 위치의 날씨 차트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628386"/>
              </p:ext>
            </p:extLst>
          </p:nvPr>
        </p:nvGraphicFramePr>
        <p:xfrm>
          <a:off x="1098744" y="2677343"/>
          <a:ext cx="10515602" cy="28226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hlinkClick r:id="rId3"/>
                        </a:rPr>
                        <a:t>?</a:t>
                      </a:r>
                      <a:r>
                        <a:rPr lang="en-US" altLang="ko-KR" sz="1200" dirty="0" err="1">
                          <a:hlinkClick r:id="rId3"/>
                        </a:rPr>
                        <a:t>location_no</a:t>
                      </a:r>
                      <a:r>
                        <a:rPr lang="en-US" altLang="ko-KR" sz="1200" dirty="0">
                          <a:hlinkClick r:id="rId3"/>
                        </a:rPr>
                        <a:t>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api/v1/weather/chart?location_no=</a:t>
                      </a:r>
                      <a:r>
                        <a:rPr lang="ko-KR" altLang="en-US" sz="1200" dirty="0"/>
                        <a:t>위치고유번호</a:t>
                      </a:r>
                      <a:r>
                        <a:rPr lang="en-US" altLang="ko-KR" sz="1200" dirty="0"/>
                        <a:t>&amp;query=</a:t>
                      </a:r>
                      <a:r>
                        <a:rPr lang="ko-KR" altLang="en-US" sz="1200" dirty="0"/>
                        <a:t>종류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종류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파고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풍속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수온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ko-KR" altLang="en-US" sz="1200" b="0" dirty="0"/>
                        <a:t>유속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/v1/weather/chart',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'application/json’,},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‘number’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위치고유번호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‘text’ : 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종류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}),});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predcYmd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날짜</a:t>
                      </a:r>
                      <a:r>
                        <a:rPr lang="en-US" altLang="ko-KR" sz="1200" b="0" dirty="0"/>
                        <a:t>, type:</a:t>
                      </a:r>
                      <a:r>
                        <a:rPr lang="ko-KR" altLang="en-US" sz="1200" b="0" dirty="0"/>
                        <a:t>구분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minValue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최저값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maxValue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 err="1"/>
                        <a:t>최고값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8121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fetchData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758311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24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fetchData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낚시 정보 갱신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공공데이터를 </a:t>
                      </a:r>
                      <a:r>
                        <a:rPr lang="en-US" altLang="ko-KR" sz="1200" dirty="0"/>
                        <a:t>DB</a:t>
                      </a:r>
                      <a:r>
                        <a:rPr lang="ko-KR" altLang="en-US" sz="1200" dirty="0"/>
                        <a:t>로 가져옴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1233817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074533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api/v1/admin/fetchData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fetchData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73747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fishlistAll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504029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fishlistAll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7145258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377774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api/v1/admin/fishlistAll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fishlistAll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GET',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, name: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, detail: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, url:</a:t>
                      </a:r>
                      <a:r>
                        <a:rPr lang="ko-KR" altLang="en-US" sz="1200" b="0" dirty="0"/>
                        <a:t>이미지주소</a:t>
                      </a:r>
                      <a:r>
                        <a:rPr lang="en-US" altLang="ko-KR" sz="1200" b="0" dirty="0"/>
                        <a:t>}….]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217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modifyFishDetail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34344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수정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143722"/>
              </p:ext>
            </p:extLst>
          </p:nvPr>
        </p:nvGraphicFramePr>
        <p:xfrm>
          <a:off x="1098744" y="2677343"/>
          <a:ext cx="10515602" cy="34627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api/v1/admin/modifyFishDetail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r>
                        <a:rPr lang="en-US" altLang="ko-KR" sz="1200" b="0" dirty="0"/>
                        <a:t>&amp;name=</a:t>
                      </a:r>
                      <a:r>
                        <a:rPr lang="ko-KR" altLang="en-US" sz="1200" b="0" dirty="0"/>
                        <a:t>이름</a:t>
                      </a:r>
                      <a:r>
                        <a:rPr lang="en-US" altLang="ko-KR" sz="1200" b="0" dirty="0"/>
                        <a:t>&amp;detail=</a:t>
                      </a:r>
                      <a:r>
                        <a:rPr lang="ko-KR" altLang="en-US" sz="1200" b="0" dirty="0"/>
                        <a:t>설명</a:t>
                      </a:r>
                      <a:r>
                        <a:rPr lang="en-US" altLang="ko-KR" sz="1200" b="0" dirty="0"/>
                        <a:t>&amp;</a:t>
                      </a:r>
                      <a:r>
                        <a:rPr lang="en-US" altLang="ko-KR" sz="1200" b="0" dirty="0" err="1"/>
                        <a:t>url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이미지주소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4408292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name: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이름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detail: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설명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url: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hlinkClick r:id="rId4" action="ppaction://hlinkfile"/>
                        </a:rPr>
                        <a:t>이미지주소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5215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removeFishDetail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961137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27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removeFishDetail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어류설명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816782"/>
              </p:ext>
            </p:extLst>
          </p:nvPr>
        </p:nvGraphicFramePr>
        <p:xfrm>
          <a:off x="1098744" y="2677343"/>
          <a:ext cx="10515602" cy="30969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</a:t>
                      </a:r>
                      <a:r>
                        <a:rPr lang="en-US" altLang="ko-KR" sz="1200" b="0" dirty="0" err="1"/>
                        <a:t>data_no</a:t>
                      </a:r>
                      <a:r>
                        <a:rPr lang="en-US" altLang="ko-KR" sz="1200" b="0" dirty="0"/>
                        <a:t>=</a:t>
                      </a:r>
                      <a:r>
                        <a:rPr lang="ko-KR" altLang="en-US" sz="1200" b="0" dirty="0"/>
                        <a:t>고유번호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461274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/>
                        <a:t>http://10.125.121.176:8080/</a:t>
                      </a:r>
                      <a:r>
                        <a:rPr lang="en-US" altLang="ko-KR" sz="1200" dirty="0"/>
                        <a:t>api/v1/admin/removeFishDetail</a:t>
                      </a:r>
                      <a:r>
                        <a:rPr lang="en-US" altLang="ko-KR" sz="1200" b="0" dirty="0"/>
                        <a:t>?data_no=</a:t>
                      </a:r>
                      <a:r>
                        <a:rPr lang="ko-KR" altLang="en-US" sz="1200" b="0" dirty="0"/>
                        <a:t>고유번호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removeFishDetail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173931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memberlist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7361744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memberlist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이용자 리스트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9882791"/>
              </p:ext>
            </p:extLst>
          </p:nvPr>
        </p:nvGraphicFramePr>
        <p:xfrm>
          <a:off x="1098744" y="2677343"/>
          <a:ext cx="10515602" cy="346275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pageNo</a:t>
                      </a:r>
                      <a:r>
                        <a:rPr lang="en-US" altLang="ko-KR" sz="1200" dirty="0"/>
                        <a:t>=1&amp;numOfRows=10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api/v1/admin/memberlist</a:t>
                      </a:r>
                      <a:r>
                        <a:rPr lang="en-US" altLang="ko-KR" sz="1200" b="0" dirty="0">
                          <a:hlinkClick r:id="rId3"/>
                        </a:rPr>
                        <a:t>?pageNo=1</a:t>
                      </a:r>
                      <a:r>
                        <a:rPr lang="en-US" altLang="ko-KR" sz="1200" b="0" dirty="0"/>
                        <a:t>&amp;numOfRows=10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71546315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memberlist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pageNo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현재 페이지 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numOfRows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조회된 데이터 개수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  items:[</a:t>
                      </a:r>
                      <a:r>
                        <a:rPr lang="en-US" altLang="ko-KR" sz="1200" b="0" dirty="0">
                          <a:hlinkClick r:id="rId4" action="ppaction://hlinksldjump"/>
                        </a:rPr>
                        <a:t>Member</a:t>
                      </a:r>
                      <a:r>
                        <a:rPr lang="ko-KR" altLang="en-US" sz="1200" b="0" dirty="0">
                          <a:hlinkClick r:id="rId4" action="ppaction://hlinksldjump"/>
                        </a:rPr>
                        <a:t> 테이블 참조</a:t>
                      </a:r>
                      <a:r>
                        <a:rPr lang="en-US" altLang="ko-KR" sz="1200" b="0" dirty="0"/>
                        <a:t>], </a:t>
                      </a:r>
                      <a:r>
                        <a:rPr lang="en-US" altLang="ko-KR" sz="1200" b="0" dirty="0" err="1"/>
                        <a:t>totalCount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데이터 개수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totalPage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페이지수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  last:</a:t>
                      </a:r>
                      <a:r>
                        <a:rPr lang="ko-KR" altLang="en-US" sz="1200" b="0" dirty="0"/>
                        <a:t>마지막페이지여부</a:t>
                      </a:r>
                      <a:r>
                        <a:rPr lang="en-US" altLang="ko-KR" sz="1200" b="0" dirty="0"/>
                        <a:t>, first:</a:t>
                      </a:r>
                      <a:r>
                        <a:rPr lang="ko-KR" altLang="en-US" sz="1200" b="0" dirty="0" err="1"/>
                        <a:t>첫페이지여부</a:t>
                      </a:r>
                      <a:r>
                        <a:rPr lang="en-US" altLang="ko-KR" sz="1200" b="0" dirty="0"/>
                        <a:t>, empty:</a:t>
                      </a:r>
                      <a:r>
                        <a:rPr lang="ko-KR" altLang="en-US" sz="1200" b="0" dirty="0"/>
                        <a:t>데이터존재여부</a:t>
                      </a:r>
                      <a:r>
                        <a:rPr lang="en-US" altLang="ko-KR" sz="1200" b="0" dirty="0"/>
                        <a:t>}]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59669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sz="4000" dirty="0"/>
              <a:t>(admin/</a:t>
            </a:r>
            <a:r>
              <a:rPr lang="en-US" altLang="ko-KR" sz="4000" dirty="0" err="1"/>
              <a:t>modifyUserEnabled</a:t>
            </a:r>
            <a:r>
              <a:rPr lang="en-US" altLang="ko-KR" sz="40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025351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29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modifyUserEnabled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이용자의 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4399787"/>
              </p:ext>
            </p:extLst>
          </p:nvPr>
        </p:nvGraphicFramePr>
        <p:xfrm>
          <a:off x="1098744" y="2677343"/>
          <a:ext cx="10515602" cy="327987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503950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user_no</a:t>
                      </a:r>
                      <a:r>
                        <a:rPr lang="en-US" altLang="ko-KR" sz="1200" dirty="0"/>
                        <a:t>=</a:t>
                      </a:r>
                      <a:r>
                        <a:rPr lang="ko-KR" altLang="en-US" sz="1200" dirty="0"/>
                        <a:t>이용자 고유번호</a:t>
                      </a:r>
                      <a:r>
                        <a:rPr lang="en-US" altLang="ko-KR" sz="1200" dirty="0"/>
                        <a:t>&amp;enabled=</a:t>
                      </a:r>
                      <a:r>
                        <a:rPr lang="ko-KR" altLang="en-US" sz="1200" dirty="0"/>
                        <a:t>활성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비활성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api/v1/admin/modifyUserEnabled?user_no=</a:t>
                      </a:r>
                      <a:r>
                        <a:rPr lang="ko-KR" altLang="en-US" sz="1200" dirty="0"/>
                        <a:t>이용자 고유번호</a:t>
                      </a:r>
                      <a:r>
                        <a:rPr lang="en-US" altLang="ko-KR" sz="1200" dirty="0"/>
                        <a:t>&amp;enabled=true/false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이용자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enabled:true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/false(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비활성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modifyUserEnabled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user_no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이용자 고유번호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enabled:true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/false})});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:null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99018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</a:t>
            </a:r>
            <a:r>
              <a:rPr lang="en-US" altLang="ko-KR" dirty="0"/>
              <a:t>(</a:t>
            </a:r>
            <a:r>
              <a:rPr lang="en-US" altLang="ko-KR" sz="4400" dirty="0"/>
              <a:t>admin/</a:t>
            </a:r>
            <a:r>
              <a:rPr lang="en-US" altLang="ko-KR" sz="4400" dirty="0" err="1"/>
              <a:t>FetchLogList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7788486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/v1/admin/</a:t>
                      </a:r>
                      <a:r>
                        <a:rPr lang="en-US" altLang="ko-KR" sz="1200" dirty="0" err="1"/>
                        <a:t>FetchLogList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관리페이지에서 </a:t>
                      </a:r>
                      <a:r>
                        <a:rPr lang="ko-KR" altLang="en-US" sz="1200" dirty="0" err="1"/>
                        <a:t>데이터패치</a:t>
                      </a:r>
                      <a:r>
                        <a:rPr lang="ko-KR" altLang="en-US" sz="1200" dirty="0"/>
                        <a:t> 로그 리스트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오류확인용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116472"/>
              </p:ext>
            </p:extLst>
          </p:nvPr>
        </p:nvGraphicFramePr>
        <p:xfrm>
          <a:off x="1098744" y="2677343"/>
          <a:ext cx="10515602" cy="401139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5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headers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{‘Authorization’:</a:t>
                      </a:r>
                      <a:r>
                        <a:rPr lang="en-US" altLang="ko-KR" sz="1200" b="0" dirty="0" err="1"/>
                        <a:t>JWTToken</a:t>
                      </a:r>
                      <a:r>
                        <a:rPr lang="en-US" altLang="ko-KR" sz="1200" b="0" dirty="0"/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 err="1"/>
                        <a:t>로그인시</a:t>
                      </a:r>
                      <a:r>
                        <a:rPr lang="ko-KR" altLang="en-US" sz="1200" b="0" dirty="0"/>
                        <a:t> </a:t>
                      </a:r>
                      <a:r>
                        <a:rPr lang="ko-KR" altLang="en-US" sz="1200" b="0" dirty="0" err="1"/>
                        <a:t>응답받은</a:t>
                      </a:r>
                      <a:r>
                        <a:rPr lang="ko-KR" altLang="en-US" sz="1200" b="0" dirty="0"/>
                        <a:t> 토큰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80973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?</a:t>
                      </a:r>
                      <a:r>
                        <a:rPr lang="en-US" altLang="ko-KR" sz="1200" dirty="0" err="1"/>
                        <a:t>logType</a:t>
                      </a:r>
                      <a:r>
                        <a:rPr lang="en-US" altLang="ko-KR" sz="1200" dirty="0"/>
                        <a:t>=(</a:t>
                      </a:r>
                      <a:r>
                        <a:rPr lang="en-US" altLang="ko-KR" sz="1200" dirty="0" err="1"/>
                        <a:t>All|Success|Error</a:t>
                      </a:r>
                      <a:r>
                        <a:rPr lang="en-US" altLang="ko-KR" sz="1200" dirty="0"/>
                        <a:t>)&amp;</a:t>
                      </a:r>
                      <a:r>
                        <a:rPr lang="en-US" altLang="ko-KR" sz="1200" dirty="0" err="1"/>
                        <a:t>pageNo</a:t>
                      </a:r>
                      <a:r>
                        <a:rPr lang="en-US" altLang="ko-KR" sz="1200" dirty="0"/>
                        <a:t>=1&amp;numOfRows=10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api/v1/admin/FetchLogList</a:t>
                      </a:r>
                      <a:r>
                        <a:rPr lang="en-US" altLang="ko-KR" sz="1200" b="0" dirty="0">
                          <a:hlinkClick r:id="rId3"/>
                        </a:rPr>
                        <a:t>?logType=All&amp;pageNo=1&amp;numOfRows=10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logType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All|Success|Error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fetch('http://10.125.121.176:8080/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api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/v1/admin/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FetchLogList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',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method: POST,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headers: {'Content-Type': 'application/json', ‘Authorization’: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JWTToken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logType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:(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All|Success|Error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pageNo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페이지번호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numOfRows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보여질 </a:t>
                      </a:r>
                      <a:r>
                        <a:rPr lang="ko-KR" altLang="en-US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항목수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})});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:[{</a:t>
                      </a:r>
                      <a:r>
                        <a:rPr lang="en-US" altLang="ko-KR" sz="1200" b="0" dirty="0" err="1"/>
                        <a:t>pageNo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현재 페이지 번호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numOfRows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조회된 데이터 개수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items:[</a:t>
                      </a:r>
                      <a:r>
                        <a:rPr lang="en-US" altLang="ko-KR" sz="1200" b="0" dirty="0" err="1">
                          <a:hlinkClick r:id="rId4" action="ppaction://hlinksldjump"/>
                        </a:rPr>
                        <a:t>FetchDataLog</a:t>
                      </a:r>
                      <a:r>
                        <a:rPr lang="ko-KR" altLang="en-US" sz="1200" b="0" dirty="0">
                          <a:hlinkClick r:id="rId4" action="ppaction://hlinksldjump"/>
                        </a:rPr>
                        <a:t> 테이블 참조</a:t>
                      </a:r>
                      <a:r>
                        <a:rPr lang="en-US" altLang="ko-KR" sz="1200" b="0" dirty="0"/>
                        <a:t>], </a:t>
                      </a:r>
                      <a:r>
                        <a:rPr lang="en-US" altLang="ko-KR" sz="1200" b="0" dirty="0" err="1"/>
                        <a:t>totalCount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데이터 개수</a:t>
                      </a:r>
                      <a:r>
                        <a:rPr lang="en-US" altLang="ko-KR" sz="1200" b="0" dirty="0"/>
                        <a:t>, </a:t>
                      </a:r>
                      <a:r>
                        <a:rPr lang="en-US" altLang="ko-KR" sz="1200" b="0" dirty="0" err="1"/>
                        <a:t>totalPage</a:t>
                      </a:r>
                      <a:r>
                        <a:rPr lang="en-US" altLang="ko-KR" sz="1200" b="0" dirty="0"/>
                        <a:t>:</a:t>
                      </a:r>
                      <a:r>
                        <a:rPr lang="ko-KR" altLang="en-US" sz="1200" b="0" dirty="0"/>
                        <a:t>전체 페이지수</a:t>
                      </a:r>
                      <a:r>
                        <a:rPr lang="en-US" altLang="ko-KR" sz="1200" b="0" dirty="0"/>
                        <a:t>, 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      last:</a:t>
                      </a:r>
                      <a:r>
                        <a:rPr lang="ko-KR" altLang="en-US" sz="1200" b="0" dirty="0"/>
                        <a:t>마지막페이지여부</a:t>
                      </a:r>
                      <a:r>
                        <a:rPr lang="en-US" altLang="ko-KR" sz="1200" b="0" dirty="0"/>
                        <a:t>, first:</a:t>
                      </a:r>
                      <a:r>
                        <a:rPr lang="ko-KR" altLang="en-US" sz="1200" b="0" dirty="0" err="1"/>
                        <a:t>첫페이지여부</a:t>
                      </a:r>
                      <a:r>
                        <a:rPr lang="en-US" altLang="ko-KR" sz="1200" b="0" dirty="0"/>
                        <a:t>, empty:</a:t>
                      </a:r>
                      <a:r>
                        <a:rPr lang="ko-KR" altLang="en-US" sz="1200" b="0" dirty="0"/>
                        <a:t>데이터존재여부</a:t>
                      </a:r>
                      <a:r>
                        <a:rPr lang="en-US" altLang="ko-KR" sz="1200" b="0" dirty="0"/>
                        <a:t>}]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: “”}</a:t>
                      </a:r>
                      <a:endParaRPr lang="ko-KR" altLang="en-US" sz="1200" b="0" dirty="0"/>
                    </a:p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80342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363820"/>
              </p:ext>
            </p:extLst>
          </p:nvPr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hlinkClick r:id="rId2" action="ppaction://hlinksldjump"/>
                        </a:rPr>
                        <a:t>31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GET/POST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/</a:t>
                      </a:r>
                      <a:r>
                        <a:rPr lang="en-US" altLang="ko-KR" sz="1200" dirty="0" err="1"/>
                        <a:t>api</a:t>
                      </a:r>
                      <a:r>
                        <a:rPr lang="en-US" altLang="ko-KR" sz="1200" dirty="0"/>
                        <a:t>/v1/fish/</a:t>
                      </a:r>
                      <a:r>
                        <a:rPr lang="en-US" altLang="ko-KR" sz="1200" dirty="0" err="1"/>
                        <a:t>topPoint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/>
                        <a:t>금일 </a:t>
                      </a:r>
                      <a:r>
                        <a:rPr lang="ko-KR" altLang="en-US" sz="1200" dirty="0" err="1"/>
                        <a:t>어종별</a:t>
                      </a:r>
                      <a:r>
                        <a:rPr lang="ko-KR" altLang="en-US" sz="1200" dirty="0"/>
                        <a:t> 추천 지점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360378"/>
              </p:ext>
            </p:extLst>
          </p:nvPr>
        </p:nvGraphicFramePr>
        <p:xfrm>
          <a:off x="1098744" y="2677343"/>
          <a:ext cx="10515602" cy="3371313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?count=3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hlinkClick r:id="rId3"/>
                        </a:rPr>
                        <a:t>http://10.125.121.176:8080/</a:t>
                      </a:r>
                      <a:r>
                        <a:rPr lang="en-US" altLang="ko-KR" sz="1200" dirty="0">
                          <a:hlinkClick r:id="rId3"/>
                        </a:rPr>
                        <a:t>api/v1/fish/topPoint</a:t>
                      </a:r>
                      <a:r>
                        <a:rPr lang="en-US" altLang="ko-KR" sz="1200" b="0" dirty="0">
                          <a:hlinkClick r:id="rId3"/>
                        </a:rPr>
                        <a:t>?count=</a:t>
                      </a:r>
                      <a:r>
                        <a:rPr lang="en-US" altLang="ko-KR" sz="1200" b="0" dirty="0"/>
                        <a:t>3</a:t>
                      </a: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{number:</a:t>
                      </a:r>
                      <a:r>
                        <a:rPr lang="ko-KR" altLang="en-US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추천개수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ex</a:t>
                      </a:r>
                      <a:endParaRPr lang="ko-KR" alt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const response = await fetch(`${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baseUrl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}/fish/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topPoint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`,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method: 'POST',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headers: {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    'Content-Type': 'application/json',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},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    body: </a:t>
                      </a:r>
                      <a:r>
                        <a:rPr lang="en-US" altLang="ko-KR" sz="1200" b="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JSON.stringify</a:t>
                      </a:r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({ number: count }),</a:t>
                      </a:r>
                    </a:p>
                    <a:p>
                      <a:r>
                        <a:rPr lang="en-US" altLang="ko-KR" sz="12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        });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{success : “” </a:t>
                      </a:r>
                      <a:br>
                        <a:rPr lang="en-US" altLang="ko-KR" sz="1200" b="0" dirty="0"/>
                      </a:br>
                      <a:r>
                        <a:rPr lang="en-US" altLang="ko-KR" sz="1200" b="0" dirty="0"/>
                        <a:t> data :[</a:t>
                      </a:r>
                      <a:r>
                        <a:rPr lang="ko-KR" altLang="en-US" sz="1200" b="0" dirty="0" err="1"/>
                        <a:t>공공데이터포털의</a:t>
                      </a:r>
                      <a:r>
                        <a:rPr lang="ko-KR" altLang="en-US" sz="1200" b="0" dirty="0"/>
                        <a:t> 데이터 형식과 동일</a:t>
                      </a:r>
                      <a:r>
                        <a:rPr lang="en-US" altLang="ko-KR" sz="1200" b="0" dirty="0"/>
                        <a:t>….]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 “error” </a:t>
                      </a:r>
                      <a:r>
                        <a:rPr lang="en-US" altLang="ko-KR" sz="1200" b="0"/>
                        <a:t>: “”}</a:t>
                      </a:r>
                      <a:endParaRPr lang="ko-KR" altLang="en-US" sz="1200" b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2542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BE602C-722B-4F3E-8FAF-32002871E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REST</a:t>
            </a:r>
            <a:r>
              <a:rPr lang="ko-KR" altLang="en-US" dirty="0"/>
              <a:t> </a:t>
            </a:r>
            <a:r>
              <a:rPr lang="en-US" altLang="ko-KR" dirty="0"/>
              <a:t>API </a:t>
            </a:r>
            <a:r>
              <a:rPr lang="ko-KR" altLang="en-US" dirty="0"/>
              <a:t>상세 명세</a:t>
            </a:r>
          </a:p>
        </p:txBody>
      </p:sp>
      <p:graphicFrame>
        <p:nvGraphicFramePr>
          <p:cNvPr id="5" name="표 5">
            <a:extLst>
              <a:ext uri="{FF2B5EF4-FFF2-40B4-BE49-F238E27FC236}">
                <a16:creationId xmlns:a16="http://schemas.microsoft.com/office/drawing/2014/main" id="{A3829CBD-FDE1-49C7-8F59-92F9AEE14FFD}"/>
              </a:ext>
            </a:extLst>
          </p:cNvPr>
          <p:cNvGraphicFramePr>
            <a:graphicFrameLocks noGrp="1"/>
          </p:cNvGraphicFramePr>
          <p:nvPr/>
        </p:nvGraphicFramePr>
        <p:xfrm>
          <a:off x="1098745" y="1813175"/>
          <a:ext cx="1051560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641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989814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4006392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1207154">
                  <a:extLst>
                    <a:ext uri="{9D8B030D-6E8A-4147-A177-3AD203B41FA5}">
                      <a16:colId xmlns:a16="http://schemas.microsoft.com/office/drawing/2014/main" val="2556227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Index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Method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화면</a:t>
                      </a:r>
                      <a:r>
                        <a:rPr lang="en-US" altLang="ko-KR" sz="1200" dirty="0"/>
                        <a:t>ID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</a:tbl>
          </a:graphicData>
        </a:graphic>
      </p:graphicFrame>
      <p:graphicFrame>
        <p:nvGraphicFramePr>
          <p:cNvPr id="2" name="표 2">
            <a:extLst>
              <a:ext uri="{FF2B5EF4-FFF2-40B4-BE49-F238E27FC236}">
                <a16:creationId xmlns:a16="http://schemas.microsoft.com/office/drawing/2014/main" id="{3F226905-024C-4372-98B1-33BF7E26573E}"/>
              </a:ext>
            </a:extLst>
          </p:cNvPr>
          <p:cNvGraphicFramePr>
            <a:graphicFrameLocks noGrp="1"/>
          </p:cNvGraphicFramePr>
          <p:nvPr/>
        </p:nvGraphicFramePr>
        <p:xfrm>
          <a:off x="1098744" y="2677343"/>
          <a:ext cx="10515602" cy="2170626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921249">
                  <a:extLst>
                    <a:ext uri="{9D8B030D-6E8A-4147-A177-3AD203B41FA5}">
                      <a16:colId xmlns:a16="http://schemas.microsoft.com/office/drawing/2014/main" val="93990522"/>
                    </a:ext>
                  </a:extLst>
                </a:gridCol>
                <a:gridCol w="814647">
                  <a:extLst>
                    <a:ext uri="{9D8B030D-6E8A-4147-A177-3AD203B41FA5}">
                      <a16:colId xmlns:a16="http://schemas.microsoft.com/office/drawing/2014/main" val="260905356"/>
                    </a:ext>
                  </a:extLst>
                </a:gridCol>
                <a:gridCol w="6683433">
                  <a:extLst>
                    <a:ext uri="{9D8B030D-6E8A-4147-A177-3AD203B41FA5}">
                      <a16:colId xmlns:a16="http://schemas.microsoft.com/office/drawing/2014/main" val="3484735828"/>
                    </a:ext>
                  </a:extLst>
                </a:gridCol>
                <a:gridCol w="2096273">
                  <a:extLst>
                    <a:ext uri="{9D8B030D-6E8A-4147-A177-3AD203B41FA5}">
                      <a16:colId xmlns:a16="http://schemas.microsoft.com/office/drawing/2014/main" val="663733866"/>
                    </a:ext>
                  </a:extLst>
                </a:gridCol>
              </a:tblGrid>
              <a:tr h="5366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분류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구분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/>
                        <a:t>비고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1704078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Request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Line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요청라인 </a:t>
                      </a:r>
                      <a:r>
                        <a:rPr lang="en-US" altLang="ko-KR" sz="1200" b="0" dirty="0"/>
                        <a:t>(</a:t>
                      </a:r>
                      <a:r>
                        <a:rPr lang="ko-KR" altLang="en-US" sz="1200" b="0" dirty="0"/>
                        <a:t>질의문자열</a:t>
                      </a:r>
                      <a:r>
                        <a:rPr lang="en-US" altLang="ko-KR" sz="1200" b="0" dirty="0"/>
                        <a:t>)</a:t>
                      </a:r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5067022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6363667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2385129"/>
                  </a:ext>
                </a:extLst>
              </a:tr>
              <a:tr h="26833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ex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6750052"/>
                  </a:ext>
                </a:extLst>
              </a:tr>
              <a:tr h="53667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Response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Body</a:t>
                      </a:r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80365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33315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5EF7ECC-C7D7-443D-8CF4-688FC6B94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400" dirty="0"/>
              <a:t>Database </a:t>
            </a:r>
            <a:r>
              <a:rPr lang="ko-KR" altLang="en-US" sz="4400" dirty="0"/>
              <a:t>설계</a:t>
            </a:r>
          </a:p>
        </p:txBody>
      </p:sp>
    </p:spTree>
    <p:extLst>
      <p:ext uri="{BB962C8B-B14F-4D97-AF65-F5344CB8AC3E}">
        <p14:creationId xmlns:p14="http://schemas.microsoft.com/office/powerpoint/2010/main" val="306538975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ERD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16427" y="1238253"/>
            <a:ext cx="7573617" cy="51128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9788045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(Member 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ADDCFC6-9D9B-47D0-B590-18185BBF2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ERD </a:t>
            </a:r>
            <a:r>
              <a:rPr lang="ko-KR" altLang="en-US" dirty="0"/>
              <a:t>테이블 구성 및 스키마 설명</a:t>
            </a:r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4618"/>
              </p:ext>
            </p:extLst>
          </p:nvPr>
        </p:nvGraphicFramePr>
        <p:xfrm>
          <a:off x="1073805" y="2549450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가입한 회원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userid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Unique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ID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password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username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4039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email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50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이메일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1432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권한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enabled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활성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비활성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가입일시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257545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(Member)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285800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마지막 로그인 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google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구글인증계정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naver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네이버인증계정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kakao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카카오인증계정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Login_log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061691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Login_log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로그인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PK, 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login_time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211778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Location_log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5796144"/>
              </p:ext>
            </p:extLst>
          </p:nvPr>
        </p:nvGraphicFramePr>
        <p:xfrm>
          <a:off x="1043987" y="1416389"/>
          <a:ext cx="8992907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Location_log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정보 조회 이력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select_time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로그 생성일지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56318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(Area)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547123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area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권역</a:t>
                      </a:r>
                      <a:r>
                        <a:rPr lang="ko-KR" altLang="en-US" sz="1200" baseline="0" dirty="0"/>
                        <a:t> 구분 정보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16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area_name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Datetime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center_lat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center_lng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권역 중심좌표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radius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크기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level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short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선택시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지도 확대 정보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fill_color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표현 원 색상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35821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(Location)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880962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location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낚시 위치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이름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lat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좌표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area_no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권역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24209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(Weather 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9791234"/>
              </p:ext>
            </p:extLst>
          </p:nvPr>
        </p:nvGraphicFramePr>
        <p:xfrm>
          <a:off x="1043987" y="1426328"/>
          <a:ext cx="8992907" cy="482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weather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지역별 날씨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날씨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predc_ymd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6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predc_noon_se_cd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오후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max_wvhgt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최고파고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max_wtem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최고수온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max_artmp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최저기온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max_crsp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최고유속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08182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(Weather)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912438"/>
              </p:ext>
            </p:extLst>
          </p:nvPr>
        </p:nvGraphicFramePr>
        <p:xfrm>
          <a:off x="1073805" y="2549450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member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컨테이너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 gridSpan="7">
                  <a:txBody>
                    <a:bodyPr/>
                    <a:lstStyle/>
                    <a:p>
                      <a:pPr marL="182563" indent="0" algn="ctr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최저풍속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max_wspd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최고풍속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marR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088326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(Fish)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302641"/>
              </p:ext>
            </p:extLst>
          </p:nvPr>
        </p:nvGraphicFramePr>
        <p:xfrm>
          <a:off x="1043987" y="1426328"/>
          <a:ext cx="8992907" cy="333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fish_no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어종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바다낚시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tdv_hr_scr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double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물때 점수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total_index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바다 낚시 지수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위치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날씨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559351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Fish_detail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568618"/>
              </p:ext>
            </p:extLst>
          </p:nvPr>
        </p:nvGraphicFramePr>
        <p:xfrm>
          <a:off x="1043987" y="1426328"/>
          <a:ext cx="8992907" cy="22250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fish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및 날씨 별 낚시가능어종 정보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data_no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>
                          <a:effectLst/>
                        </a:rPr>
                        <a:t>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 err="1">
                          <a:effectLst/>
                        </a:rPr>
                        <a:t>varchar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20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detail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어종 설명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이미지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582738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Location_Favorite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418"/>
              </p:ext>
            </p:extLst>
          </p:nvPr>
        </p:nvGraphicFramePr>
        <p:xfrm>
          <a:off x="1043987" y="1426328"/>
          <a:ext cx="8992907" cy="2595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favorite_no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즐겨찾기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user_no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　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회원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Long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FK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지역 고유번호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create_time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delete_time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DATETIME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제거일시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980211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5D323BD-B0B2-4B55-B153-67C0DD004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Table </a:t>
            </a:r>
            <a:r>
              <a:rPr lang="ko-KR" altLang="en-US" dirty="0"/>
              <a:t>명세</a:t>
            </a:r>
            <a:r>
              <a:rPr lang="en-US" altLang="ko-KR" dirty="0"/>
              <a:t>(</a:t>
            </a:r>
            <a:r>
              <a:rPr lang="en-US" altLang="ko-KR" dirty="0" err="1"/>
              <a:t>Fetch_log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7" name="표 5">
            <a:extLst>
              <a:ext uri="{FF2B5EF4-FFF2-40B4-BE49-F238E27FC236}">
                <a16:creationId xmlns:a16="http://schemas.microsoft.com/office/drawing/2014/main" id="{6A5F666B-EECD-4382-A0D0-2F69631A91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605334"/>
              </p:ext>
            </p:extLst>
          </p:nvPr>
        </p:nvGraphicFramePr>
        <p:xfrm>
          <a:off x="1043987" y="1426328"/>
          <a:ext cx="8992907" cy="370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22122">
                  <a:extLst>
                    <a:ext uri="{9D8B030D-6E8A-4147-A177-3AD203B41FA5}">
                      <a16:colId xmlns:a16="http://schemas.microsoft.com/office/drawing/2014/main" val="1185641856"/>
                    </a:ext>
                  </a:extLst>
                </a:gridCol>
                <a:gridCol w="1194102">
                  <a:extLst>
                    <a:ext uri="{9D8B030D-6E8A-4147-A177-3AD203B41FA5}">
                      <a16:colId xmlns:a16="http://schemas.microsoft.com/office/drawing/2014/main" val="567612738"/>
                    </a:ext>
                  </a:extLst>
                </a:gridCol>
                <a:gridCol w="1142558">
                  <a:extLst>
                    <a:ext uri="{9D8B030D-6E8A-4147-A177-3AD203B41FA5}">
                      <a16:colId xmlns:a16="http://schemas.microsoft.com/office/drawing/2014/main" val="2790895838"/>
                    </a:ext>
                  </a:extLst>
                </a:gridCol>
                <a:gridCol w="1116786">
                  <a:extLst>
                    <a:ext uri="{9D8B030D-6E8A-4147-A177-3AD203B41FA5}">
                      <a16:colId xmlns:a16="http://schemas.microsoft.com/office/drawing/2014/main" val="1858460438"/>
                    </a:ext>
                  </a:extLst>
                </a:gridCol>
                <a:gridCol w="902019">
                  <a:extLst>
                    <a:ext uri="{9D8B030D-6E8A-4147-A177-3AD203B41FA5}">
                      <a16:colId xmlns:a16="http://schemas.microsoft.com/office/drawing/2014/main" val="327981783"/>
                    </a:ext>
                  </a:extLst>
                </a:gridCol>
                <a:gridCol w="987926">
                  <a:extLst>
                    <a:ext uri="{9D8B030D-6E8A-4147-A177-3AD203B41FA5}">
                      <a16:colId xmlns:a16="http://schemas.microsoft.com/office/drawing/2014/main" val="1671121532"/>
                    </a:ext>
                  </a:extLst>
                </a:gridCol>
                <a:gridCol w="2027394">
                  <a:extLst>
                    <a:ext uri="{9D8B030D-6E8A-4147-A177-3AD203B41FA5}">
                      <a16:colId xmlns:a16="http://schemas.microsoft.com/office/drawing/2014/main" val="21387512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location_favorite</a:t>
                      </a:r>
                      <a:endParaRPr lang="ko-KR" altLang="en-US" sz="12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URI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테이블 설명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지역 즐겨찾기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6006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 err="1">
                          <a:effectLst/>
                        </a:rPr>
                        <a:t>컬럼명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타입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길이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Not Null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Key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Default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100" u="none" strike="noStrike" dirty="0">
                          <a:effectLst/>
                        </a:rPr>
                        <a:t>설명</a:t>
                      </a:r>
                      <a:endParaRPr lang="ko-KR" altLang="en-US" sz="1200" dirty="0"/>
                    </a:p>
                  </a:txBody>
                  <a:tcPr marL="9525" marR="9525" marT="9525" marB="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373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log_no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long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32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PK.AI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</a:rPr>
                        <a:t>로그 고유번호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20742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u="none" strike="noStrike" dirty="0" err="1">
                          <a:effectLst/>
                        </a:rPr>
                        <a:t>error_msg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u="none" strike="noStrike" dirty="0">
                          <a:effectLst/>
                        </a:rPr>
                        <a:t>TEXT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 메시지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8903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fetch_url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varchar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데이터 패치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URL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8647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u="none" strike="noStrike" dirty="0">
                          <a:effectLst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위치 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날씨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weather_update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갱신된 날씨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요일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7697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fish_count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추가된 어종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77737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fish_update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182563" indent="0"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갱신된 어종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정보수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44979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8631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1797</TotalTime>
  <Words>9486</Words>
  <Application>Microsoft Office PowerPoint</Application>
  <PresentationFormat>와이드스크린</PresentationFormat>
  <Paragraphs>1924</Paragraphs>
  <Slides>69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78" baseType="lpstr">
      <vt:lpstr>Aptos</vt:lpstr>
      <vt:lpstr>Gulim</vt:lpstr>
      <vt:lpstr>맑은 고딕</vt:lpstr>
      <vt:lpstr>맑은 고딕</vt:lpstr>
      <vt:lpstr>새굴림</vt:lpstr>
      <vt:lpstr>Arial</vt:lpstr>
      <vt:lpstr>Consolas</vt:lpstr>
      <vt:lpstr>Symbol</vt:lpstr>
      <vt:lpstr>Office 테마</vt:lpstr>
      <vt:lpstr>실시간 바다낚시 지수 및 해양 데이터 예측 대시보드</vt:lpstr>
      <vt:lpstr>contents</vt:lpstr>
      <vt:lpstr>PowerPoint 프레젠테이션</vt:lpstr>
      <vt:lpstr>프로젝트 개요</vt:lpstr>
      <vt:lpstr>핵심 기능 (1) - 메인 대시보드 </vt:lpstr>
      <vt:lpstr>핵심 기능 (2) – 상세 정보 및 필터링 </vt:lpstr>
      <vt:lpstr>비기능 요구사항 </vt:lpstr>
      <vt:lpstr>예상화면 구성(UI/UX)</vt:lpstr>
      <vt:lpstr>시스템 구성</vt:lpstr>
      <vt:lpstr>PowerPoint 프레젠테이션</vt:lpstr>
      <vt:lpstr>PowerPoint 프레젠테이션</vt:lpstr>
      <vt:lpstr>PowerPoint 프레젠테이션</vt:lpstr>
      <vt:lpstr>PowerPoint 프레젠테이션</vt:lpstr>
      <vt:lpstr>화면 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REST API 명세</vt:lpstr>
      <vt:lpstr>REST API 명세 목록</vt:lpstr>
      <vt:lpstr>REST API 명세 목록</vt:lpstr>
      <vt:lpstr>REST API 명세 목록</vt:lpstr>
      <vt:lpstr>REST API 상세(loginid)</vt:lpstr>
      <vt:lpstr>REST API 상세(logingoogle)</vt:lpstr>
      <vt:lpstr>REST API 상(loginnaver)</vt:lpstr>
      <vt:lpstr>REST API 상세(loginkakao)</vt:lpstr>
      <vt:lpstr>REST API 상세(join/validateID)</vt:lpstr>
      <vt:lpstr>REST API 상세(join/validateEmail)</vt:lpstr>
      <vt:lpstr>REST API 상세(join/validategoogle)</vt:lpstr>
      <vt:lpstr>REST API 상세(join/validatenaver)</vt:lpstr>
      <vt:lpstr>REST API 상세(join/validatekakao)</vt:lpstr>
      <vt:lpstr>REST API 상세(join/joinUser)</vt:lpstr>
      <vt:lpstr>REST API 상세(join/modifyUser)</vt:lpstr>
      <vt:lpstr>REST API 상세(area)</vt:lpstr>
      <vt:lpstr>REST API 상세(location)</vt:lpstr>
      <vt:lpstr>REST API 상세(location/area)</vt:lpstr>
      <vt:lpstr>REST API 상세(location/select)</vt:lpstr>
      <vt:lpstr>REST API 상세(location/favorite)</vt:lpstr>
      <vt:lpstr>REST API 상세(location/favorite/add)</vt:lpstr>
      <vt:lpstr>REST API 상세(location/favorite/remove)</vt:lpstr>
      <vt:lpstr>REST API 상세(fish/name)</vt:lpstr>
      <vt:lpstr>REST API 상세(fish/location)</vt:lpstr>
      <vt:lpstr>REST API 상세(fish/weather)</vt:lpstr>
      <vt:lpstr>REST API 상세(fishlist)</vt:lpstr>
      <vt:lpstr>REST API 상세(weather/chart)</vt:lpstr>
      <vt:lpstr>REST API 상세(admin/fetchData)</vt:lpstr>
      <vt:lpstr>REST API 상세(admin/fishlistAll)</vt:lpstr>
      <vt:lpstr>REST API 상세(admin/modifyFishDetail)</vt:lpstr>
      <vt:lpstr>REST API 상세(admin/removeFishDetail)</vt:lpstr>
      <vt:lpstr>REST API 상세(admin/memberlist)</vt:lpstr>
      <vt:lpstr>REST API 상세(admin/modifyUserEnabled)</vt:lpstr>
      <vt:lpstr>REST API 상세(admin/FetchLogList)</vt:lpstr>
      <vt:lpstr>REST API 상세 명세</vt:lpstr>
      <vt:lpstr>REST API 상세 명세</vt:lpstr>
      <vt:lpstr>Database 설계</vt:lpstr>
      <vt:lpstr>ERD</vt:lpstr>
      <vt:lpstr>Table 명세(Member 계속)</vt:lpstr>
      <vt:lpstr>Table 명세(Member)</vt:lpstr>
      <vt:lpstr>Table 명세(Login_log)</vt:lpstr>
      <vt:lpstr>Table 명세(Location_log)</vt:lpstr>
      <vt:lpstr>Table 명세(Area)</vt:lpstr>
      <vt:lpstr>Table 명세(Location)</vt:lpstr>
      <vt:lpstr>Table 명세(Weather 계속)</vt:lpstr>
      <vt:lpstr>Table 명세(Weather)</vt:lpstr>
      <vt:lpstr>Table 명세(Fish)</vt:lpstr>
      <vt:lpstr>Table 명세(Fish_detail)</vt:lpstr>
      <vt:lpstr>Table 명세(Location_Favorite)</vt:lpstr>
      <vt:lpstr>Table 명세(Fetch_log)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사이트 개발 목적 및 컨셉</dc:title>
  <dc:creator>김경민</dc:creator>
  <cp:lastModifiedBy>user</cp:lastModifiedBy>
  <cp:revision>143</cp:revision>
  <dcterms:created xsi:type="dcterms:W3CDTF">2023-11-14T00:10:21Z</dcterms:created>
  <dcterms:modified xsi:type="dcterms:W3CDTF">2026-01-12T05:42:08Z</dcterms:modified>
</cp:coreProperties>
</file>